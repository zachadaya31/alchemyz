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Bernoru SemiCondensed" charset="1" panose="00000A06000000000000"/>
      <p:regular r:id="rId34"/>
    </p:embeddedFont>
    <p:embeddedFont>
      <p:font typeface="Anton" charset="1" panose="00000500000000000000"/>
      <p:regular r:id="rId35"/>
    </p:embeddedFont>
    <p:embeddedFont>
      <p:font typeface="Playpen Sans Bold" charset="1" panose="00000000000000000000"/>
      <p:regular r:id="rId36"/>
    </p:embeddedFont>
    <p:embeddedFont>
      <p:font typeface="Funtastic" charset="1" panose="00000000000000000000"/>
      <p:regular r:id="rId37"/>
    </p:embeddedFont>
    <p:embeddedFont>
      <p:font typeface="Playpen Sans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9854" y="713452"/>
            <a:ext cx="14868291" cy="11069416"/>
          </a:xfrm>
          <a:custGeom>
            <a:avLst/>
            <a:gdLst/>
            <a:ahLst/>
            <a:cxnLst/>
            <a:rect r="r" b="b" t="t" l="l"/>
            <a:pathLst>
              <a:path h="11069416" w="14868291">
                <a:moveTo>
                  <a:pt x="0" y="0"/>
                </a:moveTo>
                <a:lnTo>
                  <a:pt x="14868292" y="0"/>
                </a:lnTo>
                <a:lnTo>
                  <a:pt x="14868292" y="11069416"/>
                </a:lnTo>
                <a:lnTo>
                  <a:pt x="0" y="110694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281" t="0" r="-1698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278" y="185117"/>
            <a:ext cx="3718750" cy="4114800"/>
          </a:xfrm>
          <a:custGeom>
            <a:avLst/>
            <a:gdLst/>
            <a:ahLst/>
            <a:cxnLst/>
            <a:rect r="r" b="b" t="t" l="l"/>
            <a:pathLst>
              <a:path h="4114800" w="3718750">
                <a:moveTo>
                  <a:pt x="0" y="0"/>
                </a:moveTo>
                <a:lnTo>
                  <a:pt x="3718751" y="0"/>
                </a:lnTo>
                <a:lnTo>
                  <a:pt x="37187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64814" y="5544294"/>
            <a:ext cx="5765044" cy="4114800"/>
          </a:xfrm>
          <a:custGeom>
            <a:avLst/>
            <a:gdLst/>
            <a:ahLst/>
            <a:cxnLst/>
            <a:rect r="r" b="b" t="t" l="l"/>
            <a:pathLst>
              <a:path h="4114800" w="5765044">
                <a:moveTo>
                  <a:pt x="5765044" y="0"/>
                </a:moveTo>
                <a:lnTo>
                  <a:pt x="0" y="0"/>
                </a:lnTo>
                <a:lnTo>
                  <a:pt x="0" y="4114800"/>
                </a:lnTo>
                <a:lnTo>
                  <a:pt x="5765044" y="4114800"/>
                </a:lnTo>
                <a:lnTo>
                  <a:pt x="57650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677614">
            <a:off x="12661668" y="-817754"/>
            <a:ext cx="5090813" cy="5214662"/>
          </a:xfrm>
          <a:custGeom>
            <a:avLst/>
            <a:gdLst/>
            <a:ahLst/>
            <a:cxnLst/>
            <a:rect r="r" b="b" t="t" l="l"/>
            <a:pathLst>
              <a:path h="5214662" w="5090813">
                <a:moveTo>
                  <a:pt x="0" y="0"/>
                </a:moveTo>
                <a:lnTo>
                  <a:pt x="5090814" y="0"/>
                </a:lnTo>
                <a:lnTo>
                  <a:pt x="5090814" y="5214661"/>
                </a:lnTo>
                <a:lnTo>
                  <a:pt x="0" y="52146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55506" y="5792370"/>
            <a:ext cx="3769871" cy="4494630"/>
          </a:xfrm>
          <a:custGeom>
            <a:avLst/>
            <a:gdLst/>
            <a:ahLst/>
            <a:cxnLst/>
            <a:rect r="r" b="b" t="t" l="l"/>
            <a:pathLst>
              <a:path h="4494630" w="3769871">
                <a:moveTo>
                  <a:pt x="0" y="0"/>
                </a:moveTo>
                <a:lnTo>
                  <a:pt x="3769871" y="0"/>
                </a:lnTo>
                <a:lnTo>
                  <a:pt x="3769871" y="4494630"/>
                </a:lnTo>
                <a:lnTo>
                  <a:pt x="0" y="4494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8378" y="1537347"/>
            <a:ext cx="15271244" cy="666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7150"/>
              </a:lnSpc>
            </a:pPr>
            <a:r>
              <a:rPr lang="en-US" sz="17864" spc="-678">
                <a:solidFill>
                  <a:srgbClr val="1D1D1B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CHEMICAL EQUATIONS AND REACTIONS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24395" y="1356954"/>
            <a:ext cx="14494174" cy="9856039"/>
          </a:xfrm>
          <a:custGeom>
            <a:avLst/>
            <a:gdLst/>
            <a:ahLst/>
            <a:cxnLst/>
            <a:rect r="r" b="b" t="t" l="l"/>
            <a:pathLst>
              <a:path h="9856039" w="14494174">
                <a:moveTo>
                  <a:pt x="0" y="0"/>
                </a:moveTo>
                <a:lnTo>
                  <a:pt x="14494174" y="0"/>
                </a:lnTo>
                <a:lnTo>
                  <a:pt x="14494174" y="9856039"/>
                </a:lnTo>
                <a:lnTo>
                  <a:pt x="0" y="9856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0920" y="416796"/>
            <a:ext cx="9049005" cy="3370754"/>
          </a:xfrm>
          <a:custGeom>
            <a:avLst/>
            <a:gdLst/>
            <a:ahLst/>
            <a:cxnLst/>
            <a:rect r="r" b="b" t="t" l="l"/>
            <a:pathLst>
              <a:path h="3370754" w="9049005">
                <a:moveTo>
                  <a:pt x="0" y="0"/>
                </a:moveTo>
                <a:lnTo>
                  <a:pt x="9049005" y="0"/>
                </a:lnTo>
                <a:lnTo>
                  <a:pt x="9049005" y="3370754"/>
                </a:lnTo>
                <a:lnTo>
                  <a:pt x="0" y="3370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268962"/>
            <a:ext cx="2952125" cy="4341361"/>
          </a:xfrm>
          <a:custGeom>
            <a:avLst/>
            <a:gdLst/>
            <a:ahLst/>
            <a:cxnLst/>
            <a:rect r="r" b="b" t="t" l="l"/>
            <a:pathLst>
              <a:path h="4341361" w="2952125">
                <a:moveTo>
                  <a:pt x="0" y="0"/>
                </a:moveTo>
                <a:lnTo>
                  <a:pt x="2952125" y="0"/>
                </a:lnTo>
                <a:lnTo>
                  <a:pt x="2952125" y="4341361"/>
                </a:lnTo>
                <a:lnTo>
                  <a:pt x="0" y="4341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1862" y="137963"/>
            <a:ext cx="2405024" cy="3020439"/>
          </a:xfrm>
          <a:custGeom>
            <a:avLst/>
            <a:gdLst/>
            <a:ahLst/>
            <a:cxnLst/>
            <a:rect r="r" b="b" t="t" l="l"/>
            <a:pathLst>
              <a:path h="3020439" w="2405024">
                <a:moveTo>
                  <a:pt x="0" y="0"/>
                </a:moveTo>
                <a:lnTo>
                  <a:pt x="2405024" y="0"/>
                </a:lnTo>
                <a:lnTo>
                  <a:pt x="2405024" y="3020439"/>
                </a:lnTo>
                <a:lnTo>
                  <a:pt x="0" y="30204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6858" y="1209675"/>
            <a:ext cx="8597129" cy="105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822"/>
              </a:lnSpc>
            </a:pPr>
            <a:r>
              <a:rPr lang="en-US" sz="8148" spc="-309">
                <a:solidFill>
                  <a:srgbClr val="1D1D1B"/>
                </a:solidFill>
                <a:latin typeface="Anton"/>
                <a:ea typeface="Anton"/>
                <a:cs typeface="Anton"/>
                <a:sym typeface="Anton"/>
              </a:rPr>
              <a:t>LEARNING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2125" y="3569089"/>
            <a:ext cx="13550026" cy="452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6147" indent="-463073" lvl="1">
              <a:lnSpc>
                <a:spcPts val="6005"/>
              </a:lnSpc>
              <a:buFont typeface="Arial"/>
              <a:buChar char="•"/>
            </a:pPr>
            <a:r>
              <a:rPr lang="en-US" b="true" sz="428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Define and explain what a chemical reaction is.</a:t>
            </a:r>
          </a:p>
          <a:p>
            <a:pPr algn="l" marL="926147" indent="-463073" lvl="1">
              <a:lnSpc>
                <a:spcPts val="6005"/>
              </a:lnSpc>
              <a:buFont typeface="Arial"/>
              <a:buChar char="•"/>
            </a:pPr>
            <a:r>
              <a:rPr lang="en-US" b="true" sz="428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Identify and describe the five main types of chemical reactions,</a:t>
            </a:r>
          </a:p>
          <a:p>
            <a:pPr algn="l" marL="926147" indent="-463073" lvl="1">
              <a:lnSpc>
                <a:spcPts val="6005"/>
              </a:lnSpc>
              <a:buFont typeface="Arial"/>
              <a:buChar char="•"/>
            </a:pPr>
            <a:r>
              <a:rPr lang="en-US" b="true" sz="428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Analyze everyday phenomena and relate them to specific types of chemical reactions.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30940" y="267758"/>
            <a:ext cx="16994721" cy="11328203"/>
          </a:xfrm>
          <a:custGeom>
            <a:avLst/>
            <a:gdLst/>
            <a:ahLst/>
            <a:cxnLst/>
            <a:rect r="r" b="b" t="t" l="l"/>
            <a:pathLst>
              <a:path h="11328203" w="16994721">
                <a:moveTo>
                  <a:pt x="16994722" y="0"/>
                </a:moveTo>
                <a:lnTo>
                  <a:pt x="0" y="0"/>
                </a:lnTo>
                <a:lnTo>
                  <a:pt x="0" y="11328203"/>
                </a:lnTo>
                <a:lnTo>
                  <a:pt x="16994722" y="11328203"/>
                </a:lnTo>
                <a:lnTo>
                  <a:pt x="16994722" y="0"/>
                </a:lnTo>
                <a:close/>
              </a:path>
            </a:pathLst>
          </a:custGeom>
          <a:blipFill>
            <a:blip r:embed="rId3"/>
            <a:stretch>
              <a:fillRect l="0" t="-1007" r="0" b="-100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15837" y="638038"/>
            <a:ext cx="18410634" cy="189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00"/>
              </a:lnSpc>
            </a:pPr>
            <a:r>
              <a:rPr lang="en-US" sz="12400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CHEMICAL REACTION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5133" y="2592034"/>
            <a:ext cx="15688693" cy="553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90"/>
              </a:lnSpc>
              <a:spcBef>
                <a:spcPct val="0"/>
              </a:spcBef>
            </a:pPr>
            <a:r>
              <a:rPr lang="en-US" b="true" sz="785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Is a process where one or more substances are changed into new substances with different properties.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44705" y="7362193"/>
            <a:ext cx="2643295" cy="2924807"/>
          </a:xfrm>
          <a:custGeom>
            <a:avLst/>
            <a:gdLst/>
            <a:ahLst/>
            <a:cxnLst/>
            <a:rect r="r" b="b" t="t" l="l"/>
            <a:pathLst>
              <a:path h="2924807" w="2643295">
                <a:moveTo>
                  <a:pt x="0" y="0"/>
                </a:moveTo>
                <a:lnTo>
                  <a:pt x="2643295" y="0"/>
                </a:lnTo>
                <a:lnTo>
                  <a:pt x="2643295" y="2924807"/>
                </a:lnTo>
                <a:lnTo>
                  <a:pt x="0" y="2924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30940" y="267758"/>
            <a:ext cx="16994721" cy="11328203"/>
          </a:xfrm>
          <a:custGeom>
            <a:avLst/>
            <a:gdLst/>
            <a:ahLst/>
            <a:cxnLst/>
            <a:rect r="r" b="b" t="t" l="l"/>
            <a:pathLst>
              <a:path h="11328203" w="16994721">
                <a:moveTo>
                  <a:pt x="16994722" y="0"/>
                </a:moveTo>
                <a:lnTo>
                  <a:pt x="0" y="0"/>
                </a:lnTo>
                <a:lnTo>
                  <a:pt x="0" y="11328203"/>
                </a:lnTo>
                <a:lnTo>
                  <a:pt x="16994722" y="11328203"/>
                </a:lnTo>
                <a:lnTo>
                  <a:pt x="16994722" y="0"/>
                </a:lnTo>
                <a:close/>
              </a:path>
            </a:pathLst>
          </a:custGeom>
          <a:blipFill>
            <a:blip r:embed="rId3"/>
            <a:stretch>
              <a:fillRect l="0" t="-1007" r="0" b="-10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00" y="7733307"/>
            <a:ext cx="2307900" cy="2553693"/>
          </a:xfrm>
          <a:custGeom>
            <a:avLst/>
            <a:gdLst/>
            <a:ahLst/>
            <a:cxnLst/>
            <a:rect r="r" b="b" t="t" l="l"/>
            <a:pathLst>
              <a:path h="2553693" w="2307900">
                <a:moveTo>
                  <a:pt x="0" y="0"/>
                </a:moveTo>
                <a:lnTo>
                  <a:pt x="2307900" y="0"/>
                </a:lnTo>
                <a:lnTo>
                  <a:pt x="2307900" y="2553693"/>
                </a:lnTo>
                <a:lnTo>
                  <a:pt x="0" y="255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778" y="2789730"/>
            <a:ext cx="5184847" cy="3979370"/>
          </a:xfrm>
          <a:custGeom>
            <a:avLst/>
            <a:gdLst/>
            <a:ahLst/>
            <a:cxnLst/>
            <a:rect r="r" b="b" t="t" l="l"/>
            <a:pathLst>
              <a:path h="3979370" w="5184847">
                <a:moveTo>
                  <a:pt x="0" y="0"/>
                </a:moveTo>
                <a:lnTo>
                  <a:pt x="5184848" y="0"/>
                </a:lnTo>
                <a:lnTo>
                  <a:pt x="5184848" y="3979371"/>
                </a:lnTo>
                <a:lnTo>
                  <a:pt x="0" y="39793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43481" y="2789730"/>
            <a:ext cx="4466166" cy="3773911"/>
          </a:xfrm>
          <a:custGeom>
            <a:avLst/>
            <a:gdLst/>
            <a:ahLst/>
            <a:cxnLst/>
            <a:rect r="r" b="b" t="t" l="l"/>
            <a:pathLst>
              <a:path h="3773911" w="4466166">
                <a:moveTo>
                  <a:pt x="0" y="0"/>
                </a:moveTo>
                <a:lnTo>
                  <a:pt x="4466166" y="0"/>
                </a:lnTo>
                <a:lnTo>
                  <a:pt x="4466166" y="3773911"/>
                </a:lnTo>
                <a:lnTo>
                  <a:pt x="0" y="377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73170" y="3575397"/>
            <a:ext cx="4032272" cy="2741945"/>
          </a:xfrm>
          <a:custGeom>
            <a:avLst/>
            <a:gdLst/>
            <a:ahLst/>
            <a:cxnLst/>
            <a:rect r="r" b="b" t="t" l="l"/>
            <a:pathLst>
              <a:path h="2741945" w="4032272">
                <a:moveTo>
                  <a:pt x="0" y="0"/>
                </a:moveTo>
                <a:lnTo>
                  <a:pt x="4032272" y="0"/>
                </a:lnTo>
                <a:lnTo>
                  <a:pt x="4032272" y="2741944"/>
                </a:lnTo>
                <a:lnTo>
                  <a:pt x="0" y="27419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15837" y="638038"/>
            <a:ext cx="18410634" cy="189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00"/>
              </a:lnSpc>
            </a:pPr>
            <a:r>
              <a:rPr lang="en-US" sz="12400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EXAMPLES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4778" y="6416676"/>
            <a:ext cx="2166193" cy="174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iron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30903" y="840175"/>
            <a:ext cx="1812578" cy="716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17"/>
              </a:lnSpc>
            </a:pPr>
            <a:r>
              <a:rPr lang="en-US" sz="3765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7008" y="6416676"/>
            <a:ext cx="3859113" cy="174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oxygen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9647" y="1375729"/>
            <a:ext cx="1659522" cy="653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3"/>
              </a:lnSpc>
            </a:pPr>
            <a:r>
              <a:rPr lang="en-US" sz="3429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=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88344" y="6416676"/>
            <a:ext cx="2214116" cy="174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rust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30940" y="267758"/>
            <a:ext cx="16994721" cy="11328203"/>
          </a:xfrm>
          <a:custGeom>
            <a:avLst/>
            <a:gdLst/>
            <a:ahLst/>
            <a:cxnLst/>
            <a:rect r="r" b="b" t="t" l="l"/>
            <a:pathLst>
              <a:path h="11328203" w="16994721">
                <a:moveTo>
                  <a:pt x="16994722" y="0"/>
                </a:moveTo>
                <a:lnTo>
                  <a:pt x="0" y="0"/>
                </a:lnTo>
                <a:lnTo>
                  <a:pt x="0" y="11328203"/>
                </a:lnTo>
                <a:lnTo>
                  <a:pt x="16994722" y="11328203"/>
                </a:lnTo>
                <a:lnTo>
                  <a:pt x="16994722" y="0"/>
                </a:lnTo>
                <a:close/>
              </a:path>
            </a:pathLst>
          </a:custGeom>
          <a:blipFill>
            <a:blip r:embed="rId3"/>
            <a:stretch>
              <a:fillRect l="0" t="-1007" r="0" b="-10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00" y="7733307"/>
            <a:ext cx="2307900" cy="2553693"/>
          </a:xfrm>
          <a:custGeom>
            <a:avLst/>
            <a:gdLst/>
            <a:ahLst/>
            <a:cxnLst/>
            <a:rect r="r" b="b" t="t" l="l"/>
            <a:pathLst>
              <a:path h="2553693" w="2307900">
                <a:moveTo>
                  <a:pt x="0" y="0"/>
                </a:moveTo>
                <a:lnTo>
                  <a:pt x="2307900" y="0"/>
                </a:lnTo>
                <a:lnTo>
                  <a:pt x="2307900" y="2553693"/>
                </a:lnTo>
                <a:lnTo>
                  <a:pt x="0" y="255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167815"/>
            <a:ext cx="3361887" cy="5017741"/>
          </a:xfrm>
          <a:custGeom>
            <a:avLst/>
            <a:gdLst/>
            <a:ahLst/>
            <a:cxnLst/>
            <a:rect r="r" b="b" t="t" l="l"/>
            <a:pathLst>
              <a:path h="5017741" w="3361887">
                <a:moveTo>
                  <a:pt x="0" y="0"/>
                </a:moveTo>
                <a:lnTo>
                  <a:pt x="3361887" y="0"/>
                </a:lnTo>
                <a:lnTo>
                  <a:pt x="3361887" y="5017741"/>
                </a:lnTo>
                <a:lnTo>
                  <a:pt x="0" y="5017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32928" y="2278450"/>
            <a:ext cx="6876719" cy="4581614"/>
          </a:xfrm>
          <a:custGeom>
            <a:avLst/>
            <a:gdLst/>
            <a:ahLst/>
            <a:cxnLst/>
            <a:rect r="r" b="b" t="t" l="l"/>
            <a:pathLst>
              <a:path h="4581614" w="6876719">
                <a:moveTo>
                  <a:pt x="0" y="0"/>
                </a:moveTo>
                <a:lnTo>
                  <a:pt x="6876719" y="0"/>
                </a:lnTo>
                <a:lnTo>
                  <a:pt x="6876719" y="4581615"/>
                </a:lnTo>
                <a:lnTo>
                  <a:pt x="0" y="45816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12309" y="2278450"/>
            <a:ext cx="7018429" cy="5263822"/>
          </a:xfrm>
          <a:custGeom>
            <a:avLst/>
            <a:gdLst/>
            <a:ahLst/>
            <a:cxnLst/>
            <a:rect r="r" b="b" t="t" l="l"/>
            <a:pathLst>
              <a:path h="5263822" w="7018429">
                <a:moveTo>
                  <a:pt x="0" y="0"/>
                </a:moveTo>
                <a:lnTo>
                  <a:pt x="7018429" y="0"/>
                </a:lnTo>
                <a:lnTo>
                  <a:pt x="7018429" y="5263822"/>
                </a:lnTo>
                <a:lnTo>
                  <a:pt x="0" y="52638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15837" y="638038"/>
            <a:ext cx="18410634" cy="189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00"/>
              </a:lnSpc>
            </a:pPr>
            <a:r>
              <a:rPr lang="en-US" sz="12400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EXAMPLES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6931" y="6445251"/>
            <a:ext cx="3783972" cy="159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53"/>
              </a:lnSpc>
            </a:pPr>
            <a:r>
              <a:rPr lang="en-US" sz="8395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vinegar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1080" y="840175"/>
            <a:ext cx="1812578" cy="716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17"/>
              </a:lnSpc>
            </a:pPr>
            <a:r>
              <a:rPr lang="en-US" sz="3765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12002" y="6803667"/>
            <a:ext cx="5118571" cy="206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9200" spc="395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baking soda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65248" y="1359137"/>
            <a:ext cx="1659522" cy="653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3"/>
              </a:lnSpc>
            </a:pPr>
            <a:r>
              <a:rPr lang="en-US" sz="3429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=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5952" y="6492300"/>
            <a:ext cx="4121944" cy="174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bubbles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30940" y="267758"/>
            <a:ext cx="16994721" cy="11328203"/>
          </a:xfrm>
          <a:custGeom>
            <a:avLst/>
            <a:gdLst/>
            <a:ahLst/>
            <a:cxnLst/>
            <a:rect r="r" b="b" t="t" l="l"/>
            <a:pathLst>
              <a:path h="11328203" w="16994721">
                <a:moveTo>
                  <a:pt x="16994722" y="0"/>
                </a:moveTo>
                <a:lnTo>
                  <a:pt x="0" y="0"/>
                </a:lnTo>
                <a:lnTo>
                  <a:pt x="0" y="11328203"/>
                </a:lnTo>
                <a:lnTo>
                  <a:pt x="16994722" y="11328203"/>
                </a:lnTo>
                <a:lnTo>
                  <a:pt x="16994722" y="0"/>
                </a:lnTo>
                <a:close/>
              </a:path>
            </a:pathLst>
          </a:custGeom>
          <a:blipFill>
            <a:blip r:embed="rId3"/>
            <a:stretch>
              <a:fillRect l="0" t="-1007" r="0" b="-10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00" y="7733307"/>
            <a:ext cx="2307900" cy="2553693"/>
          </a:xfrm>
          <a:custGeom>
            <a:avLst/>
            <a:gdLst/>
            <a:ahLst/>
            <a:cxnLst/>
            <a:rect r="r" b="b" t="t" l="l"/>
            <a:pathLst>
              <a:path h="2553693" w="2307900">
                <a:moveTo>
                  <a:pt x="0" y="0"/>
                </a:moveTo>
                <a:lnTo>
                  <a:pt x="2307900" y="0"/>
                </a:lnTo>
                <a:lnTo>
                  <a:pt x="2307900" y="2553693"/>
                </a:lnTo>
                <a:lnTo>
                  <a:pt x="0" y="255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6996" y="2246391"/>
            <a:ext cx="4003502" cy="5059718"/>
          </a:xfrm>
          <a:custGeom>
            <a:avLst/>
            <a:gdLst/>
            <a:ahLst/>
            <a:cxnLst/>
            <a:rect r="r" b="b" t="t" l="l"/>
            <a:pathLst>
              <a:path h="5059718" w="4003502">
                <a:moveTo>
                  <a:pt x="0" y="0"/>
                </a:moveTo>
                <a:lnTo>
                  <a:pt x="4003502" y="0"/>
                </a:lnTo>
                <a:lnTo>
                  <a:pt x="4003502" y="5059719"/>
                </a:lnTo>
                <a:lnTo>
                  <a:pt x="0" y="50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15837" y="638038"/>
            <a:ext cx="18410634" cy="189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00"/>
              </a:lnSpc>
            </a:pPr>
            <a:r>
              <a:rPr lang="en-US" sz="12400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EXAMPLES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221" y="6982260"/>
            <a:ext cx="6797053" cy="159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53"/>
              </a:lnSpc>
            </a:pPr>
            <a:r>
              <a:rPr lang="en-US" sz="8395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burning wood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86527" y="1283329"/>
            <a:ext cx="1641872" cy="647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1"/>
              </a:lnSpc>
            </a:pPr>
            <a:r>
              <a:rPr lang="en-US" sz="33929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=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3464" y="3152065"/>
            <a:ext cx="8685836" cy="358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1"/>
              </a:lnSpc>
            </a:pPr>
            <a:r>
              <a:rPr lang="en-US" sz="977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Ash, smoke, and heat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30940" y="267758"/>
            <a:ext cx="16994721" cy="11328203"/>
          </a:xfrm>
          <a:custGeom>
            <a:avLst/>
            <a:gdLst/>
            <a:ahLst/>
            <a:cxnLst/>
            <a:rect r="r" b="b" t="t" l="l"/>
            <a:pathLst>
              <a:path h="11328203" w="16994721">
                <a:moveTo>
                  <a:pt x="16994722" y="0"/>
                </a:moveTo>
                <a:lnTo>
                  <a:pt x="0" y="0"/>
                </a:lnTo>
                <a:lnTo>
                  <a:pt x="0" y="11328203"/>
                </a:lnTo>
                <a:lnTo>
                  <a:pt x="16994722" y="11328203"/>
                </a:lnTo>
                <a:lnTo>
                  <a:pt x="16994722" y="0"/>
                </a:lnTo>
                <a:close/>
              </a:path>
            </a:pathLst>
          </a:custGeom>
          <a:blipFill>
            <a:blip r:embed="rId3"/>
            <a:stretch>
              <a:fillRect l="0" t="-1007" r="0" b="-10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00" y="7733307"/>
            <a:ext cx="2307900" cy="2553693"/>
          </a:xfrm>
          <a:custGeom>
            <a:avLst/>
            <a:gdLst/>
            <a:ahLst/>
            <a:cxnLst/>
            <a:rect r="r" b="b" t="t" l="l"/>
            <a:pathLst>
              <a:path h="2553693" w="2307900">
                <a:moveTo>
                  <a:pt x="0" y="0"/>
                </a:moveTo>
                <a:lnTo>
                  <a:pt x="2307900" y="0"/>
                </a:lnTo>
                <a:lnTo>
                  <a:pt x="2307900" y="2553693"/>
                </a:lnTo>
                <a:lnTo>
                  <a:pt x="0" y="255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79403" y="2003346"/>
            <a:ext cx="4629155" cy="1758741"/>
            <a:chOff x="0" y="0"/>
            <a:chExt cx="1219201" cy="463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1" cy="463207"/>
            </a:xfrm>
            <a:custGeom>
              <a:avLst/>
              <a:gdLst/>
              <a:ahLst/>
              <a:cxnLst/>
              <a:rect r="r" b="b" t="t" l="l"/>
              <a:pathLst>
                <a:path h="463207" w="1219201">
                  <a:moveTo>
                    <a:pt x="0" y="0"/>
                  </a:moveTo>
                  <a:lnTo>
                    <a:pt x="1219201" y="0"/>
                  </a:lnTo>
                  <a:lnTo>
                    <a:pt x="1219201" y="463207"/>
                  </a:lnTo>
                  <a:lnTo>
                    <a:pt x="0" y="463207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19201" cy="501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9403" y="4040138"/>
            <a:ext cx="4629155" cy="4413459"/>
            <a:chOff x="0" y="0"/>
            <a:chExt cx="1219201" cy="11623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1" cy="1162393"/>
            </a:xfrm>
            <a:custGeom>
              <a:avLst/>
              <a:gdLst/>
              <a:ahLst/>
              <a:cxnLst/>
              <a:rect r="r" b="b" t="t" l="l"/>
              <a:pathLst>
                <a:path h="1162393" w="1219201">
                  <a:moveTo>
                    <a:pt x="0" y="0"/>
                  </a:moveTo>
                  <a:lnTo>
                    <a:pt x="1219201" y="0"/>
                  </a:lnTo>
                  <a:lnTo>
                    <a:pt x="1219201" y="1162393"/>
                  </a:lnTo>
                  <a:lnTo>
                    <a:pt x="0" y="1162393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19201" cy="1200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42251" y="4255834"/>
            <a:ext cx="3807392" cy="2141658"/>
          </a:xfrm>
          <a:custGeom>
            <a:avLst/>
            <a:gdLst/>
            <a:ahLst/>
            <a:cxnLst/>
            <a:rect r="r" b="b" t="t" l="l"/>
            <a:pathLst>
              <a:path h="2141658" w="3807392">
                <a:moveTo>
                  <a:pt x="0" y="0"/>
                </a:moveTo>
                <a:lnTo>
                  <a:pt x="3807391" y="0"/>
                </a:lnTo>
                <a:lnTo>
                  <a:pt x="3807391" y="2141657"/>
                </a:lnTo>
                <a:lnTo>
                  <a:pt x="0" y="2141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47379" y="6054849"/>
            <a:ext cx="3198330" cy="2398748"/>
          </a:xfrm>
          <a:custGeom>
            <a:avLst/>
            <a:gdLst/>
            <a:ahLst/>
            <a:cxnLst/>
            <a:rect r="r" b="b" t="t" l="l"/>
            <a:pathLst>
              <a:path h="2398748" w="3198330">
                <a:moveTo>
                  <a:pt x="0" y="0"/>
                </a:moveTo>
                <a:lnTo>
                  <a:pt x="3198331" y="0"/>
                </a:lnTo>
                <a:lnTo>
                  <a:pt x="3198331" y="2398748"/>
                </a:lnTo>
                <a:lnTo>
                  <a:pt x="0" y="2398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29423" y="2003346"/>
            <a:ext cx="4749715" cy="1758741"/>
            <a:chOff x="0" y="0"/>
            <a:chExt cx="1250954" cy="4632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0954" cy="463207"/>
            </a:xfrm>
            <a:custGeom>
              <a:avLst/>
              <a:gdLst/>
              <a:ahLst/>
              <a:cxnLst/>
              <a:rect r="r" b="b" t="t" l="l"/>
              <a:pathLst>
                <a:path h="463207" w="1250954">
                  <a:moveTo>
                    <a:pt x="0" y="0"/>
                  </a:moveTo>
                  <a:lnTo>
                    <a:pt x="1250954" y="0"/>
                  </a:lnTo>
                  <a:lnTo>
                    <a:pt x="1250954" y="463207"/>
                  </a:lnTo>
                  <a:lnTo>
                    <a:pt x="0" y="463207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50954" cy="501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29423" y="4040138"/>
            <a:ext cx="4749715" cy="4413459"/>
            <a:chOff x="0" y="0"/>
            <a:chExt cx="1250954" cy="11623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0954" cy="1162393"/>
            </a:xfrm>
            <a:custGeom>
              <a:avLst/>
              <a:gdLst/>
              <a:ahLst/>
              <a:cxnLst/>
              <a:rect r="r" b="b" t="t" l="l"/>
              <a:pathLst>
                <a:path h="1162393" w="1250954">
                  <a:moveTo>
                    <a:pt x="0" y="0"/>
                  </a:moveTo>
                  <a:lnTo>
                    <a:pt x="1250954" y="0"/>
                  </a:lnTo>
                  <a:lnTo>
                    <a:pt x="1250954" y="1162393"/>
                  </a:lnTo>
                  <a:lnTo>
                    <a:pt x="0" y="1162393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50954" cy="1200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284509" y="4450978"/>
            <a:ext cx="5839541" cy="3893027"/>
          </a:xfrm>
          <a:custGeom>
            <a:avLst/>
            <a:gdLst/>
            <a:ahLst/>
            <a:cxnLst/>
            <a:rect r="r" b="b" t="t" l="l"/>
            <a:pathLst>
              <a:path h="3893027" w="5839541">
                <a:moveTo>
                  <a:pt x="0" y="0"/>
                </a:moveTo>
                <a:lnTo>
                  <a:pt x="5839542" y="0"/>
                </a:lnTo>
                <a:lnTo>
                  <a:pt x="5839542" y="3893027"/>
                </a:lnTo>
                <a:lnTo>
                  <a:pt x="0" y="38930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124051" y="2003346"/>
            <a:ext cx="4567203" cy="1758741"/>
            <a:chOff x="0" y="0"/>
            <a:chExt cx="1202885" cy="4632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2885" cy="463207"/>
            </a:xfrm>
            <a:custGeom>
              <a:avLst/>
              <a:gdLst/>
              <a:ahLst/>
              <a:cxnLst/>
              <a:rect r="r" b="b" t="t" l="l"/>
              <a:pathLst>
                <a:path h="463207" w="1202885">
                  <a:moveTo>
                    <a:pt x="0" y="0"/>
                  </a:moveTo>
                  <a:lnTo>
                    <a:pt x="1202885" y="0"/>
                  </a:lnTo>
                  <a:lnTo>
                    <a:pt x="1202885" y="463207"/>
                  </a:lnTo>
                  <a:lnTo>
                    <a:pt x="0" y="463207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02885" cy="501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24051" y="4040138"/>
            <a:ext cx="4567203" cy="4413459"/>
            <a:chOff x="0" y="0"/>
            <a:chExt cx="1202885" cy="11623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2885" cy="1162393"/>
            </a:xfrm>
            <a:custGeom>
              <a:avLst/>
              <a:gdLst/>
              <a:ahLst/>
              <a:cxnLst/>
              <a:rect r="r" b="b" t="t" l="l"/>
              <a:pathLst>
                <a:path h="1162393" w="1202885">
                  <a:moveTo>
                    <a:pt x="0" y="0"/>
                  </a:moveTo>
                  <a:lnTo>
                    <a:pt x="1202885" y="0"/>
                  </a:lnTo>
                  <a:lnTo>
                    <a:pt x="1202885" y="1162393"/>
                  </a:lnTo>
                  <a:lnTo>
                    <a:pt x="0" y="1162393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02885" cy="1200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362176" y="4255834"/>
            <a:ext cx="2697046" cy="2947591"/>
          </a:xfrm>
          <a:custGeom>
            <a:avLst/>
            <a:gdLst/>
            <a:ahLst/>
            <a:cxnLst/>
            <a:rect r="r" b="b" t="t" l="l"/>
            <a:pathLst>
              <a:path h="2947591" w="2697046">
                <a:moveTo>
                  <a:pt x="0" y="0"/>
                </a:moveTo>
                <a:lnTo>
                  <a:pt x="2697045" y="0"/>
                </a:lnTo>
                <a:lnTo>
                  <a:pt x="2697045" y="2947591"/>
                </a:lnTo>
                <a:lnTo>
                  <a:pt x="0" y="29475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676101" y="5395108"/>
            <a:ext cx="1854119" cy="2948897"/>
          </a:xfrm>
          <a:custGeom>
            <a:avLst/>
            <a:gdLst/>
            <a:ahLst/>
            <a:cxnLst/>
            <a:rect r="r" b="b" t="t" l="l"/>
            <a:pathLst>
              <a:path h="2948897" w="1854119">
                <a:moveTo>
                  <a:pt x="0" y="0"/>
                </a:moveTo>
                <a:lnTo>
                  <a:pt x="1854119" y="0"/>
                </a:lnTo>
                <a:lnTo>
                  <a:pt x="1854119" y="2948897"/>
                </a:lnTo>
                <a:lnTo>
                  <a:pt x="0" y="2948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61768" y="608351"/>
            <a:ext cx="16597532" cy="122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099"/>
              </a:lnSpc>
            </a:pPr>
            <a:r>
              <a:rPr lang="en-US" sz="8099" spc="8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SIGNS OF A CHEMICAL REACTION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2251" y="2096225"/>
            <a:ext cx="4903459" cy="157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78"/>
              </a:lnSpc>
            </a:pPr>
            <a:r>
              <a:rPr lang="en-US" sz="5678" spc="5">
                <a:solidFill>
                  <a:srgbClr val="F8F7F2"/>
                </a:solidFill>
                <a:latin typeface="Funtastic"/>
                <a:ea typeface="Funtastic"/>
                <a:cs typeface="Funtastic"/>
                <a:sym typeface="Funtastic"/>
              </a:rPr>
              <a:t>CHANGE IN COLOR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29423" y="2181277"/>
            <a:ext cx="4749715" cy="139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95"/>
              </a:lnSpc>
            </a:pPr>
            <a:r>
              <a:rPr lang="en-US" sz="4995" spc="4">
                <a:solidFill>
                  <a:srgbClr val="F8F7F2"/>
                </a:solidFill>
                <a:latin typeface="Funtastic"/>
                <a:ea typeface="Funtastic"/>
                <a:cs typeface="Funtastic"/>
                <a:sym typeface="Funtastic"/>
              </a:rPr>
              <a:t>BUBBLES OR GAS PRODUCED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32795" y="2181277"/>
            <a:ext cx="4749715" cy="139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95"/>
              </a:lnSpc>
            </a:pPr>
            <a:r>
              <a:rPr lang="en-US" sz="4995" spc="4">
                <a:solidFill>
                  <a:srgbClr val="F8F7F2"/>
                </a:solidFill>
                <a:latin typeface="Funtastic"/>
                <a:ea typeface="Funtastic"/>
                <a:cs typeface="Funtastic"/>
                <a:sym typeface="Funtastic"/>
              </a:rPr>
              <a:t>HEAT OR LIGHT GIVEN OFF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30940" y="267758"/>
            <a:ext cx="16994721" cy="11328203"/>
          </a:xfrm>
          <a:custGeom>
            <a:avLst/>
            <a:gdLst/>
            <a:ahLst/>
            <a:cxnLst/>
            <a:rect r="r" b="b" t="t" l="l"/>
            <a:pathLst>
              <a:path h="11328203" w="16994721">
                <a:moveTo>
                  <a:pt x="16994722" y="0"/>
                </a:moveTo>
                <a:lnTo>
                  <a:pt x="0" y="0"/>
                </a:lnTo>
                <a:lnTo>
                  <a:pt x="0" y="11328203"/>
                </a:lnTo>
                <a:lnTo>
                  <a:pt x="16994722" y="11328203"/>
                </a:lnTo>
                <a:lnTo>
                  <a:pt x="16994722" y="0"/>
                </a:lnTo>
                <a:close/>
              </a:path>
            </a:pathLst>
          </a:custGeom>
          <a:blipFill>
            <a:blip r:embed="rId3"/>
            <a:stretch>
              <a:fillRect l="0" t="-1007" r="0" b="-10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00" y="7733307"/>
            <a:ext cx="2307900" cy="2553693"/>
          </a:xfrm>
          <a:custGeom>
            <a:avLst/>
            <a:gdLst/>
            <a:ahLst/>
            <a:cxnLst/>
            <a:rect r="r" b="b" t="t" l="l"/>
            <a:pathLst>
              <a:path h="2553693" w="2307900">
                <a:moveTo>
                  <a:pt x="0" y="0"/>
                </a:moveTo>
                <a:lnTo>
                  <a:pt x="2307900" y="0"/>
                </a:lnTo>
                <a:lnTo>
                  <a:pt x="2307900" y="2553693"/>
                </a:lnTo>
                <a:lnTo>
                  <a:pt x="0" y="255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35065" y="2003346"/>
            <a:ext cx="4629155" cy="1758741"/>
            <a:chOff x="0" y="0"/>
            <a:chExt cx="1219201" cy="463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1" cy="463207"/>
            </a:xfrm>
            <a:custGeom>
              <a:avLst/>
              <a:gdLst/>
              <a:ahLst/>
              <a:cxnLst/>
              <a:rect r="r" b="b" t="t" l="l"/>
              <a:pathLst>
                <a:path h="463207" w="1219201">
                  <a:moveTo>
                    <a:pt x="0" y="0"/>
                  </a:moveTo>
                  <a:lnTo>
                    <a:pt x="1219201" y="0"/>
                  </a:lnTo>
                  <a:lnTo>
                    <a:pt x="1219201" y="463207"/>
                  </a:lnTo>
                  <a:lnTo>
                    <a:pt x="0" y="463207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19201" cy="501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8154" y="4040138"/>
            <a:ext cx="7366833" cy="4413459"/>
            <a:chOff x="0" y="0"/>
            <a:chExt cx="1940236" cy="11623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236" cy="1162393"/>
            </a:xfrm>
            <a:custGeom>
              <a:avLst/>
              <a:gdLst/>
              <a:ahLst/>
              <a:cxnLst/>
              <a:rect r="r" b="b" t="t" l="l"/>
              <a:pathLst>
                <a:path h="1162393" w="1940236">
                  <a:moveTo>
                    <a:pt x="0" y="0"/>
                  </a:moveTo>
                  <a:lnTo>
                    <a:pt x="1940236" y="0"/>
                  </a:lnTo>
                  <a:lnTo>
                    <a:pt x="1940236" y="1162393"/>
                  </a:lnTo>
                  <a:lnTo>
                    <a:pt x="0" y="1162393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40236" cy="1200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82878" y="2003346"/>
            <a:ext cx="6226402" cy="1758741"/>
            <a:chOff x="0" y="0"/>
            <a:chExt cx="1639875" cy="4632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9875" cy="463207"/>
            </a:xfrm>
            <a:custGeom>
              <a:avLst/>
              <a:gdLst/>
              <a:ahLst/>
              <a:cxnLst/>
              <a:rect r="r" b="b" t="t" l="l"/>
              <a:pathLst>
                <a:path h="463207" w="1639875">
                  <a:moveTo>
                    <a:pt x="0" y="0"/>
                  </a:moveTo>
                  <a:lnTo>
                    <a:pt x="1639875" y="0"/>
                  </a:lnTo>
                  <a:lnTo>
                    <a:pt x="1639875" y="463207"/>
                  </a:lnTo>
                  <a:lnTo>
                    <a:pt x="0" y="463207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39875" cy="501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7855" y="4040138"/>
            <a:ext cx="6873489" cy="4413459"/>
            <a:chOff x="0" y="0"/>
            <a:chExt cx="1810302" cy="11623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0302" cy="1162393"/>
            </a:xfrm>
            <a:custGeom>
              <a:avLst/>
              <a:gdLst/>
              <a:ahLst/>
              <a:cxnLst/>
              <a:rect r="r" b="b" t="t" l="l"/>
              <a:pathLst>
                <a:path h="1162393" w="1810302">
                  <a:moveTo>
                    <a:pt x="0" y="0"/>
                  </a:moveTo>
                  <a:lnTo>
                    <a:pt x="1810302" y="0"/>
                  </a:lnTo>
                  <a:lnTo>
                    <a:pt x="1810302" y="1162393"/>
                  </a:lnTo>
                  <a:lnTo>
                    <a:pt x="0" y="1162393"/>
                  </a:lnTo>
                  <a:close/>
                </a:path>
              </a:pathLst>
            </a:custGeom>
            <a:solidFill>
              <a:srgbClr val="F193AD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10302" cy="1200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160328" y="4381212"/>
            <a:ext cx="5462484" cy="3641656"/>
          </a:xfrm>
          <a:custGeom>
            <a:avLst/>
            <a:gdLst/>
            <a:ahLst/>
            <a:cxnLst/>
            <a:rect r="r" b="b" t="t" l="l"/>
            <a:pathLst>
              <a:path h="3641656" w="5462484">
                <a:moveTo>
                  <a:pt x="0" y="0"/>
                </a:moveTo>
                <a:lnTo>
                  <a:pt x="5462484" y="0"/>
                </a:lnTo>
                <a:lnTo>
                  <a:pt x="5462484" y="3641656"/>
                </a:lnTo>
                <a:lnTo>
                  <a:pt x="0" y="3641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90439" y="4426547"/>
            <a:ext cx="5528322" cy="3596321"/>
          </a:xfrm>
          <a:custGeom>
            <a:avLst/>
            <a:gdLst/>
            <a:ahLst/>
            <a:cxnLst/>
            <a:rect r="r" b="b" t="t" l="l"/>
            <a:pathLst>
              <a:path h="3596321" w="5528322">
                <a:moveTo>
                  <a:pt x="0" y="0"/>
                </a:moveTo>
                <a:lnTo>
                  <a:pt x="5528321" y="0"/>
                </a:lnTo>
                <a:lnTo>
                  <a:pt x="5528321" y="3596321"/>
                </a:lnTo>
                <a:lnTo>
                  <a:pt x="0" y="35963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5291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61768" y="608351"/>
            <a:ext cx="16597532" cy="122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099"/>
              </a:lnSpc>
            </a:pPr>
            <a:r>
              <a:rPr lang="en-US" sz="8099" spc="8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SIGNS OF A CHEMICAL REACTION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97913" y="2453413"/>
            <a:ext cx="4903459" cy="85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78"/>
              </a:lnSpc>
            </a:pPr>
            <a:r>
              <a:rPr lang="en-US" sz="5678" spc="5">
                <a:solidFill>
                  <a:srgbClr val="F8F7F2"/>
                </a:solidFill>
                <a:latin typeface="Funtastic"/>
                <a:ea typeface="Funtastic"/>
                <a:cs typeface="Funtastic"/>
                <a:sym typeface="Funtastic"/>
              </a:rPr>
              <a:t>A NEW SMELL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89767" y="2102728"/>
            <a:ext cx="5929665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149"/>
              </a:lnSpc>
            </a:pPr>
            <a:r>
              <a:rPr lang="en-US" sz="4149" spc="4">
                <a:solidFill>
                  <a:srgbClr val="F8F7F2"/>
                </a:solidFill>
                <a:latin typeface="Funtastic"/>
                <a:ea typeface="Funtastic"/>
                <a:cs typeface="Funtastic"/>
                <a:sym typeface="Funtastic"/>
              </a:rPr>
              <a:t>A SOLID FORMS FROM TWO LIQUIDS (CALLED A PRECIPITATE)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86202" y="134512"/>
            <a:ext cx="17115596" cy="11638605"/>
          </a:xfrm>
          <a:custGeom>
            <a:avLst/>
            <a:gdLst/>
            <a:ahLst/>
            <a:cxnLst/>
            <a:rect r="r" b="b" t="t" l="l"/>
            <a:pathLst>
              <a:path h="11638605" w="17115596">
                <a:moveTo>
                  <a:pt x="17115596" y="0"/>
                </a:moveTo>
                <a:lnTo>
                  <a:pt x="0" y="0"/>
                </a:lnTo>
                <a:lnTo>
                  <a:pt x="0" y="11638605"/>
                </a:lnTo>
                <a:lnTo>
                  <a:pt x="17115596" y="11638605"/>
                </a:lnTo>
                <a:lnTo>
                  <a:pt x="1711559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98894" y="7470726"/>
            <a:ext cx="3523543" cy="2514929"/>
          </a:xfrm>
          <a:custGeom>
            <a:avLst/>
            <a:gdLst/>
            <a:ahLst/>
            <a:cxnLst/>
            <a:rect r="r" b="b" t="t" l="l"/>
            <a:pathLst>
              <a:path h="2514929" w="3523543">
                <a:moveTo>
                  <a:pt x="3523543" y="0"/>
                </a:moveTo>
                <a:lnTo>
                  <a:pt x="0" y="0"/>
                </a:lnTo>
                <a:lnTo>
                  <a:pt x="0" y="2514929"/>
                </a:lnTo>
                <a:lnTo>
                  <a:pt x="3523543" y="2514929"/>
                </a:lnTo>
                <a:lnTo>
                  <a:pt x="35235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6608" y="2543159"/>
            <a:ext cx="15517450" cy="2355648"/>
          </a:xfrm>
          <a:custGeom>
            <a:avLst/>
            <a:gdLst/>
            <a:ahLst/>
            <a:cxnLst/>
            <a:rect r="r" b="b" t="t" l="l"/>
            <a:pathLst>
              <a:path h="2355648" w="15517450">
                <a:moveTo>
                  <a:pt x="0" y="0"/>
                </a:moveTo>
                <a:lnTo>
                  <a:pt x="15517449" y="0"/>
                </a:lnTo>
                <a:lnTo>
                  <a:pt x="15517449" y="2355648"/>
                </a:lnTo>
                <a:lnTo>
                  <a:pt x="0" y="2355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772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3504068" y="3605593"/>
            <a:ext cx="1038987" cy="4114800"/>
          </a:xfrm>
          <a:custGeom>
            <a:avLst/>
            <a:gdLst/>
            <a:ahLst/>
            <a:cxnLst/>
            <a:rect r="r" b="b" t="t" l="l"/>
            <a:pathLst>
              <a:path h="4114800" w="1038987">
                <a:moveTo>
                  <a:pt x="0" y="0"/>
                </a:moveTo>
                <a:lnTo>
                  <a:pt x="1038987" y="0"/>
                </a:lnTo>
                <a:lnTo>
                  <a:pt x="1038987" y="4114801"/>
                </a:lnTo>
                <a:lnTo>
                  <a:pt x="0" y="4114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8894" y="602385"/>
            <a:ext cx="17632876" cy="142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312"/>
              </a:lnSpc>
            </a:pPr>
            <a:r>
              <a:rPr lang="en-US" sz="9312" spc="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CHEMICAL EQUATION BASICS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3296413" y="3605593"/>
            <a:ext cx="1038987" cy="4114800"/>
          </a:xfrm>
          <a:custGeom>
            <a:avLst/>
            <a:gdLst/>
            <a:ahLst/>
            <a:cxnLst/>
            <a:rect r="r" b="b" t="t" l="l"/>
            <a:pathLst>
              <a:path h="4114800" w="1038987">
                <a:moveTo>
                  <a:pt x="0" y="0"/>
                </a:moveTo>
                <a:lnTo>
                  <a:pt x="1038987" y="0"/>
                </a:lnTo>
                <a:lnTo>
                  <a:pt x="1038987" y="4114801"/>
                </a:lnTo>
                <a:lnTo>
                  <a:pt x="0" y="4114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20324" y="6303728"/>
            <a:ext cx="8687771" cy="11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69"/>
              </a:lnSpc>
            </a:pPr>
            <a:r>
              <a:rPr lang="en-US" sz="7669" spc="7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reactants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2021" y="6303728"/>
            <a:ext cx="8687771" cy="11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69"/>
              </a:lnSpc>
            </a:pPr>
            <a:r>
              <a:rPr lang="en-US" sz="7669" spc="7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products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86202" y="134512"/>
            <a:ext cx="17115596" cy="11638605"/>
          </a:xfrm>
          <a:custGeom>
            <a:avLst/>
            <a:gdLst/>
            <a:ahLst/>
            <a:cxnLst/>
            <a:rect r="r" b="b" t="t" l="l"/>
            <a:pathLst>
              <a:path h="11638605" w="17115596">
                <a:moveTo>
                  <a:pt x="17115596" y="0"/>
                </a:moveTo>
                <a:lnTo>
                  <a:pt x="0" y="0"/>
                </a:lnTo>
                <a:lnTo>
                  <a:pt x="0" y="11638605"/>
                </a:lnTo>
                <a:lnTo>
                  <a:pt x="17115596" y="11638605"/>
                </a:lnTo>
                <a:lnTo>
                  <a:pt x="1711559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429307"/>
            <a:ext cx="3329646" cy="3329646"/>
          </a:xfrm>
          <a:custGeom>
            <a:avLst/>
            <a:gdLst/>
            <a:ahLst/>
            <a:cxnLst/>
            <a:rect r="r" b="b" t="t" l="l"/>
            <a:pathLst>
              <a:path h="3329646" w="3329646">
                <a:moveTo>
                  <a:pt x="0" y="0"/>
                </a:moveTo>
                <a:lnTo>
                  <a:pt x="3329646" y="0"/>
                </a:lnTo>
                <a:lnTo>
                  <a:pt x="3329646" y="3329646"/>
                </a:lnTo>
                <a:lnTo>
                  <a:pt x="0" y="3329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2119964" y="6023359"/>
            <a:ext cx="1147118" cy="1008030"/>
          </a:xfrm>
          <a:custGeom>
            <a:avLst/>
            <a:gdLst/>
            <a:ahLst/>
            <a:cxnLst/>
            <a:rect r="r" b="b" t="t" l="l"/>
            <a:pathLst>
              <a:path h="1008030" w="1147118">
                <a:moveTo>
                  <a:pt x="0" y="0"/>
                </a:moveTo>
                <a:lnTo>
                  <a:pt x="1147118" y="0"/>
                </a:lnTo>
                <a:lnTo>
                  <a:pt x="1147118" y="1008029"/>
                </a:lnTo>
                <a:lnTo>
                  <a:pt x="0" y="1008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222" y="3443319"/>
            <a:ext cx="3800998" cy="1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303"/>
              </a:lnSpc>
            </a:pPr>
            <a:r>
              <a:rPr lang="en-US" b="true" sz="11303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7560" y="4024101"/>
            <a:ext cx="2349754" cy="93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987"/>
              </a:lnSpc>
            </a:pPr>
            <a:r>
              <a:rPr lang="en-US" b="true" sz="6987" spc="6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24622" y="3443319"/>
            <a:ext cx="1345383" cy="1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303"/>
              </a:lnSpc>
            </a:pPr>
            <a:r>
              <a:rPr lang="en-US" b="true" sz="11303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59812" y="3443319"/>
            <a:ext cx="3800998" cy="1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303"/>
              </a:lnSpc>
            </a:pPr>
            <a:r>
              <a:rPr lang="en-US" b="true" sz="11303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1230" y="4024101"/>
            <a:ext cx="2349754" cy="93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987"/>
              </a:lnSpc>
            </a:pPr>
            <a:r>
              <a:rPr lang="en-US" b="true" sz="6987" spc="6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64764" y="3057072"/>
            <a:ext cx="2322726" cy="2322726"/>
          </a:xfrm>
          <a:custGeom>
            <a:avLst/>
            <a:gdLst/>
            <a:ahLst/>
            <a:cxnLst/>
            <a:rect r="r" b="b" t="t" l="l"/>
            <a:pathLst>
              <a:path h="2322726" w="2322726">
                <a:moveTo>
                  <a:pt x="0" y="0"/>
                </a:moveTo>
                <a:lnTo>
                  <a:pt x="2322726" y="0"/>
                </a:lnTo>
                <a:lnTo>
                  <a:pt x="2322726" y="2322725"/>
                </a:lnTo>
                <a:lnTo>
                  <a:pt x="0" y="232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6108533" y="6023359"/>
            <a:ext cx="1147118" cy="1008030"/>
          </a:xfrm>
          <a:custGeom>
            <a:avLst/>
            <a:gdLst/>
            <a:ahLst/>
            <a:cxnLst/>
            <a:rect r="r" b="b" t="t" l="l"/>
            <a:pathLst>
              <a:path h="1008030" w="1147118">
                <a:moveTo>
                  <a:pt x="0" y="0"/>
                </a:moveTo>
                <a:lnTo>
                  <a:pt x="1147118" y="0"/>
                </a:lnTo>
                <a:lnTo>
                  <a:pt x="1147118" y="1008029"/>
                </a:lnTo>
                <a:lnTo>
                  <a:pt x="0" y="1008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48468" y="3669588"/>
            <a:ext cx="1097693" cy="1097693"/>
          </a:xfrm>
          <a:custGeom>
            <a:avLst/>
            <a:gdLst/>
            <a:ahLst/>
            <a:cxnLst/>
            <a:rect r="r" b="b" t="t" l="l"/>
            <a:pathLst>
              <a:path h="1097693" w="1097693">
                <a:moveTo>
                  <a:pt x="0" y="0"/>
                </a:moveTo>
                <a:lnTo>
                  <a:pt x="1097693" y="0"/>
                </a:lnTo>
                <a:lnTo>
                  <a:pt x="1097693" y="1097693"/>
                </a:lnTo>
                <a:lnTo>
                  <a:pt x="0" y="1097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4323755" y="5024035"/>
            <a:ext cx="1147118" cy="1008030"/>
          </a:xfrm>
          <a:custGeom>
            <a:avLst/>
            <a:gdLst/>
            <a:ahLst/>
            <a:cxnLst/>
            <a:rect r="r" b="b" t="t" l="l"/>
            <a:pathLst>
              <a:path h="1008030" w="1147118">
                <a:moveTo>
                  <a:pt x="0" y="0"/>
                </a:moveTo>
                <a:lnTo>
                  <a:pt x="1147118" y="0"/>
                </a:lnTo>
                <a:lnTo>
                  <a:pt x="1147118" y="1008030"/>
                </a:lnTo>
                <a:lnTo>
                  <a:pt x="0" y="1008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94598" y="3578911"/>
            <a:ext cx="2127313" cy="1279047"/>
          </a:xfrm>
          <a:custGeom>
            <a:avLst/>
            <a:gdLst/>
            <a:ahLst/>
            <a:cxnLst/>
            <a:rect r="r" b="b" t="t" l="l"/>
            <a:pathLst>
              <a:path h="1279047" w="2127313">
                <a:moveTo>
                  <a:pt x="0" y="0"/>
                </a:moveTo>
                <a:lnTo>
                  <a:pt x="2127313" y="0"/>
                </a:lnTo>
                <a:lnTo>
                  <a:pt x="2127313" y="1279047"/>
                </a:lnTo>
                <a:lnTo>
                  <a:pt x="0" y="12790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8894" y="602385"/>
            <a:ext cx="17632876" cy="142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312"/>
              </a:lnSpc>
            </a:pPr>
            <a:r>
              <a:rPr lang="en-US" sz="9312" spc="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CHEMICAL EQUATION BASICS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1816" y="7281908"/>
            <a:ext cx="4175498" cy="76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63"/>
              </a:lnSpc>
            </a:pPr>
            <a:r>
              <a:rPr lang="en-US" sz="4963" spc="4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(methane)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57141" y="7281908"/>
            <a:ext cx="4175498" cy="76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63"/>
              </a:lnSpc>
            </a:pPr>
            <a:r>
              <a:rPr lang="en-US" sz="4963" spc="4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(oxygen)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49220" y="6092084"/>
            <a:ext cx="1575796" cy="130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42"/>
              </a:lnSpc>
            </a:pPr>
            <a:r>
              <a:rPr lang="en-US" sz="2442" spc="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elements/compoundthat are combined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8670446" y="5024035"/>
            <a:ext cx="1147118" cy="1008030"/>
          </a:xfrm>
          <a:custGeom>
            <a:avLst/>
            <a:gdLst/>
            <a:ahLst/>
            <a:cxnLst/>
            <a:rect r="r" b="b" t="t" l="l"/>
            <a:pathLst>
              <a:path h="1008030" w="1147118">
                <a:moveTo>
                  <a:pt x="0" y="0"/>
                </a:moveTo>
                <a:lnTo>
                  <a:pt x="1147118" y="0"/>
                </a:lnTo>
                <a:lnTo>
                  <a:pt x="1147118" y="1008030"/>
                </a:lnTo>
                <a:lnTo>
                  <a:pt x="0" y="1008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080344" y="6223588"/>
            <a:ext cx="2589321" cy="60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13"/>
              </a:lnSpc>
            </a:pPr>
            <a:r>
              <a:rPr lang="en-US" sz="4013" spc="4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yields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44005" y="3473006"/>
            <a:ext cx="3800998" cy="1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303"/>
              </a:lnSpc>
            </a:pPr>
            <a:r>
              <a:rPr lang="en-US" b="true" sz="11303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75907" y="4053787"/>
            <a:ext cx="2349754" cy="93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987"/>
              </a:lnSpc>
            </a:pPr>
            <a:r>
              <a:rPr lang="en-US" b="true" sz="6987" spc="6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60356" y="3385715"/>
            <a:ext cx="1623314" cy="1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744"/>
              </a:lnSpc>
            </a:pPr>
            <a:r>
              <a:rPr lang="en-US" b="true" sz="11744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+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53891" y="3443319"/>
            <a:ext cx="2445788" cy="1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303"/>
              </a:lnSpc>
            </a:pPr>
            <a:r>
              <a:rPr lang="en-US" b="true" sz="11303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7636" y="4193915"/>
            <a:ext cx="2349754" cy="93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987"/>
              </a:lnSpc>
            </a:pPr>
            <a:r>
              <a:rPr lang="en-US" b="true" sz="6987" spc="6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88445" y="3567624"/>
            <a:ext cx="3800998" cy="1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1303"/>
              </a:lnSpc>
            </a:pPr>
            <a:r>
              <a:rPr lang="en-US" b="true" sz="11303" spc="11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824220" y="2553611"/>
            <a:ext cx="3329646" cy="3329646"/>
          </a:xfrm>
          <a:custGeom>
            <a:avLst/>
            <a:gdLst/>
            <a:ahLst/>
            <a:cxnLst/>
            <a:rect r="r" b="b" t="t" l="l"/>
            <a:pathLst>
              <a:path h="3329646" w="3329646">
                <a:moveTo>
                  <a:pt x="0" y="0"/>
                </a:moveTo>
                <a:lnTo>
                  <a:pt x="3329646" y="0"/>
                </a:lnTo>
                <a:lnTo>
                  <a:pt x="3329646" y="3329646"/>
                </a:lnTo>
                <a:lnTo>
                  <a:pt x="0" y="3329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11306363" y="6213859"/>
            <a:ext cx="1147118" cy="1008030"/>
          </a:xfrm>
          <a:custGeom>
            <a:avLst/>
            <a:gdLst/>
            <a:ahLst/>
            <a:cxnLst/>
            <a:rect r="r" b="b" t="t" l="l"/>
            <a:pathLst>
              <a:path h="1008030" w="1147118">
                <a:moveTo>
                  <a:pt x="0" y="0"/>
                </a:moveTo>
                <a:lnTo>
                  <a:pt x="1147118" y="0"/>
                </a:lnTo>
                <a:lnTo>
                  <a:pt x="1147118" y="1008029"/>
                </a:lnTo>
                <a:lnTo>
                  <a:pt x="0" y="1008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748020" y="7281908"/>
            <a:ext cx="4175498" cy="1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63"/>
              </a:lnSpc>
            </a:pPr>
            <a:r>
              <a:rPr lang="en-US" sz="4963" spc="4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(carbon dioxide)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973311" y="2624169"/>
            <a:ext cx="3134784" cy="3134784"/>
          </a:xfrm>
          <a:custGeom>
            <a:avLst/>
            <a:gdLst/>
            <a:ahLst/>
            <a:cxnLst/>
            <a:rect r="r" b="b" t="t" l="l"/>
            <a:pathLst>
              <a:path h="3134784" w="3134784">
                <a:moveTo>
                  <a:pt x="0" y="0"/>
                </a:moveTo>
                <a:lnTo>
                  <a:pt x="3134785" y="0"/>
                </a:lnTo>
                <a:lnTo>
                  <a:pt x="3134785" y="3134784"/>
                </a:lnTo>
                <a:lnTo>
                  <a:pt x="0" y="3134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5400000">
            <a:off x="14990918" y="6171153"/>
            <a:ext cx="1147118" cy="1008030"/>
          </a:xfrm>
          <a:custGeom>
            <a:avLst/>
            <a:gdLst/>
            <a:ahLst/>
            <a:cxnLst/>
            <a:rect r="r" b="b" t="t" l="l"/>
            <a:pathLst>
              <a:path h="1008030" w="1147118">
                <a:moveTo>
                  <a:pt x="0" y="0"/>
                </a:moveTo>
                <a:lnTo>
                  <a:pt x="1147118" y="0"/>
                </a:lnTo>
                <a:lnTo>
                  <a:pt x="1147118" y="1008030"/>
                </a:lnTo>
                <a:lnTo>
                  <a:pt x="0" y="1008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353891" y="7697626"/>
            <a:ext cx="4175498" cy="76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963"/>
              </a:lnSpc>
            </a:pPr>
            <a:r>
              <a:rPr lang="en-US" sz="4963" spc="4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(water)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316515"/>
            <a:ext cx="16669436" cy="11335217"/>
          </a:xfrm>
          <a:custGeom>
            <a:avLst/>
            <a:gdLst/>
            <a:ahLst/>
            <a:cxnLst/>
            <a:rect r="r" b="b" t="t" l="l"/>
            <a:pathLst>
              <a:path h="11335217" w="16669436">
                <a:moveTo>
                  <a:pt x="16669436" y="0"/>
                </a:moveTo>
                <a:lnTo>
                  <a:pt x="0" y="0"/>
                </a:lnTo>
                <a:lnTo>
                  <a:pt x="0" y="11335217"/>
                </a:lnTo>
                <a:lnTo>
                  <a:pt x="16669436" y="11335217"/>
                </a:lnTo>
                <a:lnTo>
                  <a:pt x="166694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118" y="7627043"/>
            <a:ext cx="1746935" cy="1993649"/>
          </a:xfrm>
          <a:custGeom>
            <a:avLst/>
            <a:gdLst/>
            <a:ahLst/>
            <a:cxnLst/>
            <a:rect r="r" b="b" t="t" l="l"/>
            <a:pathLst>
              <a:path h="1993649" w="1746935">
                <a:moveTo>
                  <a:pt x="0" y="0"/>
                </a:moveTo>
                <a:lnTo>
                  <a:pt x="1746935" y="0"/>
                </a:lnTo>
                <a:lnTo>
                  <a:pt x="1746935" y="1993649"/>
                </a:lnTo>
                <a:lnTo>
                  <a:pt x="0" y="1993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1448" y="1850904"/>
            <a:ext cx="10783940" cy="6772964"/>
          </a:xfrm>
          <a:custGeom>
            <a:avLst/>
            <a:gdLst/>
            <a:ahLst/>
            <a:cxnLst/>
            <a:rect r="r" b="b" t="t" l="l"/>
            <a:pathLst>
              <a:path h="6772964" w="10783940">
                <a:moveTo>
                  <a:pt x="0" y="0"/>
                </a:moveTo>
                <a:lnTo>
                  <a:pt x="10783940" y="0"/>
                </a:lnTo>
                <a:lnTo>
                  <a:pt x="10783940" y="6772963"/>
                </a:lnTo>
                <a:lnTo>
                  <a:pt x="0" y="6772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090" r="-1664" b="-331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0675" y="860627"/>
            <a:ext cx="16779854" cy="99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530"/>
              </a:lnSpc>
            </a:pPr>
            <a:r>
              <a:rPr lang="en-US" sz="6530" spc="6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SYMBOLS USED IN CHEMICAL EQUATIONS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316515"/>
            <a:ext cx="16669436" cy="11335217"/>
          </a:xfrm>
          <a:custGeom>
            <a:avLst/>
            <a:gdLst/>
            <a:ahLst/>
            <a:cxnLst/>
            <a:rect r="r" b="b" t="t" l="l"/>
            <a:pathLst>
              <a:path h="11335217" w="16669436">
                <a:moveTo>
                  <a:pt x="16669436" y="0"/>
                </a:moveTo>
                <a:lnTo>
                  <a:pt x="0" y="0"/>
                </a:lnTo>
                <a:lnTo>
                  <a:pt x="0" y="11335217"/>
                </a:lnTo>
                <a:lnTo>
                  <a:pt x="16669436" y="11335217"/>
                </a:lnTo>
                <a:lnTo>
                  <a:pt x="166694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118" y="7627043"/>
            <a:ext cx="1746935" cy="1993649"/>
          </a:xfrm>
          <a:custGeom>
            <a:avLst/>
            <a:gdLst/>
            <a:ahLst/>
            <a:cxnLst/>
            <a:rect r="r" b="b" t="t" l="l"/>
            <a:pathLst>
              <a:path h="1993649" w="1746935">
                <a:moveTo>
                  <a:pt x="0" y="0"/>
                </a:moveTo>
                <a:lnTo>
                  <a:pt x="1746935" y="0"/>
                </a:lnTo>
                <a:lnTo>
                  <a:pt x="1746935" y="1993649"/>
                </a:lnTo>
                <a:lnTo>
                  <a:pt x="0" y="1993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14" y="774033"/>
            <a:ext cx="18466009" cy="797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702"/>
              </a:lnSpc>
            </a:pPr>
            <a:r>
              <a:rPr lang="en-US" sz="19702" spc="1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TYPES OF CHEMICAL REACTIONS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77614">
            <a:off x="14425271" y="130851"/>
            <a:ext cx="3631174" cy="3719513"/>
          </a:xfrm>
          <a:custGeom>
            <a:avLst/>
            <a:gdLst/>
            <a:ahLst/>
            <a:cxnLst/>
            <a:rect r="r" b="b" t="t" l="l"/>
            <a:pathLst>
              <a:path h="3719513" w="3631174">
                <a:moveTo>
                  <a:pt x="0" y="0"/>
                </a:moveTo>
                <a:lnTo>
                  <a:pt x="3631174" y="0"/>
                </a:lnTo>
                <a:lnTo>
                  <a:pt x="3631174" y="3719512"/>
                </a:lnTo>
                <a:lnTo>
                  <a:pt x="0" y="3719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68445" y="1015192"/>
            <a:ext cx="9751110" cy="182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933"/>
              </a:lnSpc>
            </a:pPr>
            <a:r>
              <a:rPr lang="en-US" sz="11933" spc="11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COMBUSTION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2572" y="2842015"/>
            <a:ext cx="16132552" cy="524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41"/>
              </a:lnSpc>
              <a:spcBef>
                <a:spcPct val="0"/>
              </a:spcBef>
            </a:pPr>
            <a:r>
              <a:rPr lang="en-US" sz="5958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 combustion reaction is a chemical reaction where a substance reacts quickly with oxygen (O₂) and gives off heat and light, usually in the form of a flame. It is also called</a:t>
            </a:r>
            <a:r>
              <a:rPr lang="en-US" b="true" sz="595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burning.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677614">
            <a:off x="14401529" y="-1185019"/>
            <a:ext cx="3631174" cy="3719513"/>
          </a:xfrm>
          <a:custGeom>
            <a:avLst/>
            <a:gdLst/>
            <a:ahLst/>
            <a:cxnLst/>
            <a:rect r="r" b="b" t="t" l="l"/>
            <a:pathLst>
              <a:path h="3719513" w="3631174">
                <a:moveTo>
                  <a:pt x="0" y="0"/>
                </a:moveTo>
                <a:lnTo>
                  <a:pt x="3631175" y="0"/>
                </a:lnTo>
                <a:lnTo>
                  <a:pt x="3631175" y="3719512"/>
                </a:lnTo>
                <a:lnTo>
                  <a:pt x="0" y="3719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2373668" y="4975896"/>
            <a:ext cx="818036" cy="3239745"/>
          </a:xfrm>
          <a:custGeom>
            <a:avLst/>
            <a:gdLst/>
            <a:ahLst/>
            <a:cxnLst/>
            <a:rect r="r" b="b" t="t" l="l"/>
            <a:pathLst>
              <a:path h="3239745" w="818036">
                <a:moveTo>
                  <a:pt x="0" y="0"/>
                </a:moveTo>
                <a:lnTo>
                  <a:pt x="818036" y="0"/>
                </a:lnTo>
                <a:lnTo>
                  <a:pt x="818036" y="3239745"/>
                </a:lnTo>
                <a:lnTo>
                  <a:pt x="0" y="323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8445" y="1019175"/>
            <a:ext cx="9751110" cy="181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933"/>
              </a:lnSpc>
            </a:pPr>
            <a:r>
              <a:rPr lang="en-US" sz="11933" spc="11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COMBUSTION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2710949" y="3973209"/>
            <a:ext cx="22761052" cy="170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3"/>
              </a:lnSpc>
              <a:spcBef>
                <a:spcPct val="0"/>
              </a:spcBef>
            </a:pPr>
            <a:r>
              <a:rPr lang="en-US" b="true" sz="10002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C₈H₁₈ + O₂ → CO₂ + H₂O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54563" y="5057775"/>
            <a:ext cx="1799587" cy="74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36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31481" y="5057775"/>
            <a:ext cx="1799587" cy="74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36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36170" y="5057775"/>
            <a:ext cx="1799587" cy="74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36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94983" y="5017791"/>
            <a:ext cx="1573773" cy="6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4"/>
              </a:lnSpc>
              <a:spcBef>
                <a:spcPct val="0"/>
              </a:spcBef>
            </a:pPr>
            <a:r>
              <a:rPr lang="en-US" b="true" sz="3817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8868" y="7135851"/>
            <a:ext cx="2519198" cy="84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99"/>
              </a:lnSpc>
            </a:pPr>
            <a:r>
              <a:rPr lang="en-US" sz="5499" spc="5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octane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8260" y="7969144"/>
            <a:ext cx="4420415" cy="125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481"/>
              </a:lnSpc>
            </a:pPr>
            <a:r>
              <a:rPr lang="en-US" sz="4481" spc="4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(found in gasoline)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535633" y="2965024"/>
            <a:ext cx="19099639" cy="80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6"/>
              </a:lnSpc>
              <a:spcBef>
                <a:spcPct val="0"/>
              </a:spcBef>
            </a:pPr>
            <a:r>
              <a:rPr lang="en-US" b="true" sz="4754">
                <a:solidFill>
                  <a:srgbClr val="FF313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CxHy + O₂ → CO₂ + H₂O + energy (heat and/or light)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50393" y="495702"/>
            <a:ext cx="2321830" cy="2688081"/>
          </a:xfrm>
          <a:custGeom>
            <a:avLst/>
            <a:gdLst/>
            <a:ahLst/>
            <a:cxnLst/>
            <a:rect r="r" b="b" t="t" l="l"/>
            <a:pathLst>
              <a:path h="2688081" w="2321830">
                <a:moveTo>
                  <a:pt x="0" y="0"/>
                </a:moveTo>
                <a:lnTo>
                  <a:pt x="2321830" y="0"/>
                </a:lnTo>
                <a:lnTo>
                  <a:pt x="2321830" y="2688081"/>
                </a:lnTo>
                <a:lnTo>
                  <a:pt x="0" y="2688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68445" y="1019175"/>
            <a:ext cx="9751110" cy="181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933"/>
              </a:lnSpc>
            </a:pPr>
            <a:r>
              <a:rPr lang="en-US" sz="11933" spc="11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COMBUSTION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681625" y="2869299"/>
            <a:ext cx="21311344" cy="161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11"/>
              </a:lnSpc>
              <a:spcBef>
                <a:spcPct val="0"/>
              </a:spcBef>
            </a:pPr>
            <a:r>
              <a:rPr lang="en-US" b="true" sz="936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C₂H₅OH + O₂ → CO₂ + H₂O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681625" y="4792481"/>
            <a:ext cx="21311344" cy="161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11"/>
              </a:lnSpc>
              <a:spcBef>
                <a:spcPct val="0"/>
              </a:spcBef>
            </a:pPr>
            <a:r>
              <a:rPr lang="en-US" b="true" sz="936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CH₄ + O₂ → CO₂ + H₂O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68445" y="5872984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13710" y="5872984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02924" y="5872984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11308" y="5872984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0200" y="4183908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47195" y="4077984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4497" y="3875434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252075" y="6794733"/>
            <a:ext cx="21311344" cy="161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11"/>
              </a:lnSpc>
              <a:spcBef>
                <a:spcPct val="0"/>
              </a:spcBef>
            </a:pPr>
            <a:r>
              <a:rPr lang="en-US" b="true" sz="936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C₃H₈ + O₂ → CO₂ + H₂O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520" y="2374713"/>
            <a:ext cx="2557925" cy="76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4"/>
              </a:lnSpc>
              <a:spcBef>
                <a:spcPct val="0"/>
              </a:spcBef>
            </a:pPr>
            <a:r>
              <a:rPr lang="en-US" sz="399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(ethanol)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6120" y="4413456"/>
            <a:ext cx="2557925" cy="76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4"/>
              </a:lnSpc>
              <a:spcBef>
                <a:spcPct val="0"/>
              </a:spcBef>
            </a:pPr>
            <a:r>
              <a:rPr lang="en-US" sz="399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(methane)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6120" y="6521632"/>
            <a:ext cx="2557925" cy="76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4"/>
              </a:lnSpc>
              <a:spcBef>
                <a:spcPct val="0"/>
              </a:spcBef>
            </a:pPr>
            <a:r>
              <a:rPr lang="en-US" sz="399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(propane)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05248" y="7956783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14947" y="7956783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17646" y="7956783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00200" y="7956783"/>
            <a:ext cx="859100" cy="69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4"/>
              </a:lnSpc>
              <a:spcBef>
                <a:spcPct val="0"/>
              </a:spcBef>
            </a:pPr>
            <a:r>
              <a:rPr lang="en-US" b="true" sz="406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(g)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42661" y="6239333"/>
            <a:ext cx="2321830" cy="2688081"/>
          </a:xfrm>
          <a:custGeom>
            <a:avLst/>
            <a:gdLst/>
            <a:ahLst/>
            <a:cxnLst/>
            <a:rect r="r" b="b" t="t" l="l"/>
            <a:pathLst>
              <a:path h="2688081" w="2321830">
                <a:moveTo>
                  <a:pt x="0" y="0"/>
                </a:moveTo>
                <a:lnTo>
                  <a:pt x="2321829" y="0"/>
                </a:lnTo>
                <a:lnTo>
                  <a:pt x="2321829" y="2688081"/>
                </a:lnTo>
                <a:lnTo>
                  <a:pt x="0" y="2688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448053"/>
            <a:ext cx="1944500" cy="2286007"/>
          </a:xfrm>
          <a:custGeom>
            <a:avLst/>
            <a:gdLst/>
            <a:ahLst/>
            <a:cxnLst/>
            <a:rect r="r" b="b" t="t" l="l"/>
            <a:pathLst>
              <a:path h="2286007" w="1944500">
                <a:moveTo>
                  <a:pt x="0" y="0"/>
                </a:moveTo>
                <a:lnTo>
                  <a:pt x="1944500" y="0"/>
                </a:lnTo>
                <a:lnTo>
                  <a:pt x="1944500" y="2286007"/>
                </a:lnTo>
                <a:lnTo>
                  <a:pt x="0" y="22860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3629" y="925411"/>
            <a:ext cx="17478485" cy="181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933"/>
              </a:lnSpc>
            </a:pPr>
            <a:r>
              <a:rPr lang="en-US" sz="11933" spc="11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COMBUSTION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13836"/>
            <a:ext cx="18451275" cy="102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733"/>
              </a:lnSpc>
            </a:pPr>
            <a:r>
              <a:rPr lang="en-US" b="true" sz="7733" spc="7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Hydrocarbon + O₂ → CO₂ + H₂O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462" y="1190879"/>
            <a:ext cx="16518772" cy="14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26"/>
              </a:lnSpc>
            </a:pPr>
            <a:r>
              <a:rPr lang="en-US" sz="9626" spc="9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SYNTHESIS OR COMBINATION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61666"/>
            <a:ext cx="16075898" cy="490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78"/>
              </a:lnSpc>
              <a:spcBef>
                <a:spcPct val="0"/>
              </a:spcBef>
            </a:pPr>
            <a:r>
              <a:rPr lang="en-US" b="true" sz="934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Combining two smaller things to make something larger.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462" y="1190879"/>
            <a:ext cx="16518772" cy="14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26"/>
              </a:lnSpc>
            </a:pPr>
            <a:r>
              <a:rPr lang="en-US" sz="9626" spc="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SYNTHESIS OR COMBINATION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83142"/>
            <a:ext cx="15992804" cy="159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85"/>
              </a:lnSpc>
              <a:spcBef>
                <a:spcPct val="0"/>
              </a:spcBef>
            </a:pPr>
            <a:r>
              <a:rPr lang="en-US" b="true" sz="9347">
                <a:solidFill>
                  <a:srgbClr val="FF313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(A + B = AB)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26812" y="4469228"/>
            <a:ext cx="20341624" cy="174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31"/>
              </a:lnSpc>
              <a:spcBef>
                <a:spcPct val="0"/>
              </a:spcBef>
            </a:pPr>
            <a:r>
              <a:rPr lang="en-US" sz="916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Hydrogen + Oxygen → Water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950315"/>
            <a:ext cx="17310353" cy="228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29"/>
              </a:lnSpc>
              <a:spcBef>
                <a:spcPct val="0"/>
              </a:spcBef>
            </a:pPr>
            <a:r>
              <a:rPr lang="en-US" b="true" sz="1323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H₂ + O₂ → H₂O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462" y="1190879"/>
            <a:ext cx="16518772" cy="14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26"/>
              </a:lnSpc>
            </a:pPr>
            <a:r>
              <a:rPr lang="en-US" sz="9626" spc="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SYNTHESIS OR COMBINATION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462" y="3012622"/>
            <a:ext cx="16610891" cy="1373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3"/>
              </a:lnSpc>
              <a:spcBef>
                <a:spcPct val="0"/>
              </a:spcBef>
            </a:pPr>
            <a:r>
              <a:rPr lang="en-US" sz="7209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Sodium + Chlorine → Sodium chloride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4644" y="4195894"/>
            <a:ext cx="13008409" cy="170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4"/>
              </a:lnSpc>
              <a:spcBef>
                <a:spcPct val="0"/>
              </a:spcBef>
            </a:pPr>
            <a:r>
              <a:rPr lang="en-US" b="true" sz="994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Na + Cl₂ → NaCl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9462" y="5817703"/>
            <a:ext cx="16610891" cy="1373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3"/>
              </a:lnSpc>
              <a:spcBef>
                <a:spcPct val="0"/>
              </a:spcBef>
            </a:pPr>
            <a:r>
              <a:rPr lang="en-US" sz="7209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Carbon + Oxygen → Carbon dioxide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0703" y="7191475"/>
            <a:ext cx="13008409" cy="170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4"/>
              </a:lnSpc>
              <a:spcBef>
                <a:spcPct val="0"/>
              </a:spcBef>
            </a:pPr>
            <a:r>
              <a:rPr lang="en-US" b="true" sz="994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 + O₂ → CO₂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60561" y="1020116"/>
            <a:ext cx="18609122" cy="165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4"/>
              </a:lnSpc>
            </a:pPr>
            <a:r>
              <a:rPr lang="en-US" sz="10844" spc="1116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DECOMPOSITION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2356" y="2506186"/>
            <a:ext cx="16876589" cy="624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27"/>
              </a:lnSpc>
              <a:spcBef>
                <a:spcPct val="0"/>
              </a:spcBef>
            </a:pPr>
            <a:r>
              <a:rPr lang="en-US" b="true" sz="887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One compound breaks down into two or more simpler substances (elements or smaller compounds).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462" y="1190879"/>
            <a:ext cx="16518772" cy="14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26"/>
              </a:lnSpc>
            </a:pPr>
            <a:r>
              <a:rPr lang="en-US" sz="9626" spc="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DECOMPOSITION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83142"/>
            <a:ext cx="15992804" cy="159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85"/>
              </a:lnSpc>
              <a:spcBef>
                <a:spcPct val="0"/>
              </a:spcBef>
            </a:pPr>
            <a:r>
              <a:rPr lang="en-US" b="true" sz="9347">
                <a:solidFill>
                  <a:srgbClr val="FF313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(AB = A+B)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145710" y="4093394"/>
            <a:ext cx="20341624" cy="174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31"/>
              </a:lnSpc>
              <a:spcBef>
                <a:spcPct val="0"/>
              </a:spcBef>
            </a:pPr>
            <a:r>
              <a:rPr lang="en-US" sz="916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Hydrogen Peroxide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925" y="5574481"/>
            <a:ext cx="17310353" cy="228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29"/>
              </a:lnSpc>
              <a:spcBef>
                <a:spcPct val="0"/>
              </a:spcBef>
            </a:pPr>
            <a:r>
              <a:rPr lang="en-US" b="true" sz="1323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H₂O₂ → H₂O+O₂​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462" y="1190879"/>
            <a:ext cx="16518772" cy="14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26"/>
              </a:lnSpc>
            </a:pPr>
            <a:r>
              <a:rPr lang="en-US" sz="9626" spc="9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DECOMPOSITION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49743" y="2501993"/>
            <a:ext cx="18537743" cy="131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  <a:spcBef>
                <a:spcPct val="0"/>
              </a:spcBef>
            </a:pPr>
            <a:r>
              <a:rPr lang="en-US" sz="6899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Calcium Carbonate (Chalk or Limestone)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671" y="3675927"/>
            <a:ext cx="16914563" cy="222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5"/>
              </a:lnSpc>
              <a:spcBef>
                <a:spcPct val="0"/>
              </a:spcBef>
            </a:pPr>
            <a:r>
              <a:rPr lang="en-US" b="true" sz="12932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CaCO​ → CaO+CO​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01420" y="4964243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16115" y="4964243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4871" y="5747733"/>
            <a:ext cx="18537743" cy="131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  <a:spcBef>
                <a:spcPct val="0"/>
              </a:spcBef>
            </a:pPr>
            <a:r>
              <a:rPr lang="en-US" sz="6899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Silver Oxide (when heated)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1847" y="6807565"/>
            <a:ext cx="16914563" cy="222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5"/>
              </a:lnSpc>
              <a:spcBef>
                <a:spcPct val="0"/>
              </a:spcBef>
            </a:pPr>
            <a:r>
              <a:rPr lang="en-US" b="true" sz="12932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Ag ​O → Ag+O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37188" y="8236315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91532" y="8095880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724519" y="1181354"/>
            <a:ext cx="21401118" cy="190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71"/>
              </a:lnSpc>
            </a:pPr>
            <a:r>
              <a:rPr lang="en-US" sz="12471" spc="12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SINGLE REPLACEMENT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0278" y="2755092"/>
            <a:ext cx="17111523" cy="609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46"/>
              </a:lnSpc>
              <a:spcBef>
                <a:spcPct val="0"/>
              </a:spcBef>
            </a:pPr>
            <a:r>
              <a:rPr lang="en-US" b="true" sz="867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One element that starts out by itself replaces another element in a compound, kicking it out.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826917" y="908815"/>
            <a:ext cx="21491975" cy="190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524"/>
              </a:lnSpc>
            </a:pPr>
            <a:r>
              <a:rPr lang="en-US" sz="12524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SINGLE REPLACEMENT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5410" y="2289574"/>
            <a:ext cx="13581427" cy="177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38"/>
              </a:lnSpc>
              <a:spcBef>
                <a:spcPct val="0"/>
              </a:spcBef>
            </a:pPr>
            <a:r>
              <a:rPr lang="en-US" b="true" sz="10384">
                <a:solidFill>
                  <a:srgbClr val="FF313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 + BC → AC + 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8372" y="5541225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64792" y="3934826"/>
            <a:ext cx="13578779" cy="13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4"/>
              </a:lnSpc>
              <a:spcBef>
                <a:spcPct val="0"/>
              </a:spcBef>
            </a:pPr>
            <a:r>
              <a:rPr lang="en-US" sz="6945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Chlorine + Sodium Bromide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2317" y="5098410"/>
            <a:ext cx="15503728" cy="136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Cl​  + NaBr → NaCl+Br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76685" y="5646030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4742" y="6719904"/>
            <a:ext cx="15728657" cy="136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3"/>
              </a:lnSpc>
              <a:spcBef>
                <a:spcPct val="0"/>
              </a:spcBef>
            </a:pPr>
            <a:r>
              <a:rPr lang="en-US" b="true" sz="8045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Fe+CuCl→FeCl​  + Cu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8352" y="7247257"/>
            <a:ext cx="746208" cy="9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b="true" sz="5464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29334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6898" y="2550080"/>
            <a:ext cx="1217753" cy="2676380"/>
          </a:xfrm>
          <a:custGeom>
            <a:avLst/>
            <a:gdLst/>
            <a:ahLst/>
            <a:cxnLst/>
            <a:rect r="r" b="b" t="t" l="l"/>
            <a:pathLst>
              <a:path h="2676380" w="1217753">
                <a:moveTo>
                  <a:pt x="0" y="0"/>
                </a:moveTo>
                <a:lnTo>
                  <a:pt x="1217753" y="0"/>
                </a:lnTo>
                <a:lnTo>
                  <a:pt x="121775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584145" y="2550080"/>
            <a:ext cx="849751" cy="2676380"/>
          </a:xfrm>
          <a:custGeom>
            <a:avLst/>
            <a:gdLst/>
            <a:ahLst/>
            <a:cxnLst/>
            <a:rect r="r" b="b" t="t" l="l"/>
            <a:pathLst>
              <a:path h="2676380" w="849751">
                <a:moveTo>
                  <a:pt x="849751" y="0"/>
                </a:moveTo>
                <a:lnTo>
                  <a:pt x="0" y="0"/>
                </a:lnTo>
                <a:lnTo>
                  <a:pt x="0" y="2676380"/>
                </a:lnTo>
                <a:lnTo>
                  <a:pt x="849751" y="2676380"/>
                </a:lnTo>
                <a:lnTo>
                  <a:pt x="84975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7899601" y="3740553"/>
            <a:ext cx="1441768" cy="0"/>
          </a:xfrm>
          <a:prstGeom prst="line">
            <a:avLst/>
          </a:prstGeom>
          <a:ln cap="flat" w="1333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645679" y="2550080"/>
            <a:ext cx="796223" cy="2676380"/>
          </a:xfrm>
          <a:custGeom>
            <a:avLst/>
            <a:gdLst/>
            <a:ahLst/>
            <a:cxnLst/>
            <a:rect r="r" b="b" t="t" l="l"/>
            <a:pathLst>
              <a:path h="2676380" w="796223">
                <a:moveTo>
                  <a:pt x="0" y="0"/>
                </a:moveTo>
                <a:lnTo>
                  <a:pt x="796223" y="0"/>
                </a:lnTo>
                <a:lnTo>
                  <a:pt x="79622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826917" y="908815"/>
            <a:ext cx="21491975" cy="190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524"/>
              </a:lnSpc>
            </a:pPr>
            <a:r>
              <a:rPr lang="en-US" sz="12524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SINGLE REPLACEMENT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33896" y="2860805"/>
            <a:ext cx="853002" cy="136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+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9687361" y="2550080"/>
            <a:ext cx="849751" cy="2676380"/>
          </a:xfrm>
          <a:custGeom>
            <a:avLst/>
            <a:gdLst/>
            <a:ahLst/>
            <a:cxnLst/>
            <a:rect r="r" b="b" t="t" l="l"/>
            <a:pathLst>
              <a:path h="2676380" w="849751">
                <a:moveTo>
                  <a:pt x="849750" y="0"/>
                </a:moveTo>
                <a:lnTo>
                  <a:pt x="0" y="0"/>
                </a:lnTo>
                <a:lnTo>
                  <a:pt x="0" y="2676380"/>
                </a:lnTo>
                <a:lnTo>
                  <a:pt x="849750" y="2676380"/>
                </a:lnTo>
                <a:lnTo>
                  <a:pt x="84975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79986" y="2550080"/>
            <a:ext cx="1217753" cy="2676380"/>
          </a:xfrm>
          <a:custGeom>
            <a:avLst/>
            <a:gdLst/>
            <a:ahLst/>
            <a:cxnLst/>
            <a:rect r="r" b="b" t="t" l="l"/>
            <a:pathLst>
              <a:path h="2676380" w="1217753">
                <a:moveTo>
                  <a:pt x="0" y="0"/>
                </a:moveTo>
                <a:lnTo>
                  <a:pt x="1217753" y="0"/>
                </a:lnTo>
                <a:lnTo>
                  <a:pt x="121775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40614" y="2976949"/>
            <a:ext cx="853002" cy="136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2"/>
              </a:lnSpc>
              <a:spcBef>
                <a:spcPct val="0"/>
              </a:spcBef>
            </a:pPr>
            <a:r>
              <a:rPr lang="en-US" b="true" sz="793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+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136268" y="2550080"/>
            <a:ext cx="796223" cy="2676380"/>
          </a:xfrm>
          <a:custGeom>
            <a:avLst/>
            <a:gdLst/>
            <a:ahLst/>
            <a:cxnLst/>
            <a:rect r="r" b="b" t="t" l="l"/>
            <a:pathLst>
              <a:path h="2676380" w="796223">
                <a:moveTo>
                  <a:pt x="0" y="0"/>
                </a:moveTo>
                <a:lnTo>
                  <a:pt x="796222" y="0"/>
                </a:lnTo>
                <a:lnTo>
                  <a:pt x="796222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49773" y="5178835"/>
            <a:ext cx="12388453" cy="127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7"/>
              </a:lnSpc>
            </a:pPr>
            <a:r>
              <a:rPr lang="en-US" sz="6712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Magnesium + Hydrochloric Acid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11785" y="6494234"/>
            <a:ext cx="13064430" cy="150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1"/>
              </a:lnSpc>
            </a:pPr>
            <a:r>
              <a:rPr lang="en-US" sz="8765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Mg + HCl → MgCl ​ + H​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3616" y="7158773"/>
            <a:ext cx="435196" cy="83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4887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76215" y="7158773"/>
            <a:ext cx="435196" cy="83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4887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724519" y="1181354"/>
            <a:ext cx="21401118" cy="190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71"/>
              </a:lnSpc>
            </a:pPr>
            <a:r>
              <a:rPr lang="en-US" sz="12471" spc="12">
                <a:solidFill>
                  <a:srgbClr val="FF3131"/>
                </a:solidFill>
                <a:latin typeface="Funtastic"/>
                <a:ea typeface="Funtastic"/>
                <a:cs typeface="Funtastic"/>
                <a:sym typeface="Funtastic"/>
              </a:rPr>
              <a:t>DOUBLE REPLACEMENT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73805" y="3233801"/>
            <a:ext cx="18299690" cy="513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3"/>
              </a:lnSpc>
              <a:spcBef>
                <a:spcPct val="0"/>
              </a:spcBef>
            </a:pPr>
            <a:r>
              <a:rPr lang="en-US" b="true" sz="978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The positive and negative ions in two compounds switch places.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75813" y="4735667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91197" y="4735667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118006" y="3987204"/>
            <a:ext cx="21960677" cy="15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80"/>
              </a:lnSpc>
              <a:spcBef>
                <a:spcPct val="0"/>
              </a:spcBef>
            </a:pPr>
            <a:r>
              <a:rPr lang="en-US" b="true" sz="898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BaCl +Na ​SO​→BaSO +NaCl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475813" y="5590938"/>
            <a:ext cx="11095427" cy="1248236"/>
          </a:xfrm>
          <a:custGeom>
            <a:avLst/>
            <a:gdLst/>
            <a:ahLst/>
            <a:cxnLst/>
            <a:rect r="r" b="b" t="t" l="l"/>
            <a:pathLst>
              <a:path h="1248236" w="11095427">
                <a:moveTo>
                  <a:pt x="0" y="0"/>
                </a:moveTo>
                <a:lnTo>
                  <a:pt x="11095427" y="0"/>
                </a:lnTo>
                <a:lnTo>
                  <a:pt x="11095427" y="1248236"/>
                </a:lnTo>
                <a:lnTo>
                  <a:pt x="0" y="1248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-1514125" y="899290"/>
            <a:ext cx="21179183" cy="188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342"/>
              </a:lnSpc>
            </a:pPr>
            <a:r>
              <a:rPr lang="en-US" sz="12342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DOUBLE REPLACEMENT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09804" y="2411662"/>
            <a:ext cx="13331326" cy="156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6"/>
              </a:lnSpc>
              <a:spcBef>
                <a:spcPct val="0"/>
              </a:spcBef>
            </a:pPr>
            <a:r>
              <a:rPr lang="en-US" b="true" sz="9097">
                <a:solidFill>
                  <a:srgbClr val="FF313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AB + CD → AD + CB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93090" y="4735667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34901" y="4735667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1203820" y="6800613"/>
            <a:ext cx="20132305" cy="140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33"/>
              </a:lnSpc>
              <a:spcBef>
                <a:spcPct val="0"/>
              </a:spcBef>
            </a:pPr>
            <a:r>
              <a:rPr lang="en-US" b="true" sz="823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AgNO ​+NaCl→AgCl↓+NaNO​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8190" y="7585574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6923" y="7347792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8" r="0" b="-7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52356" y="495702"/>
            <a:ext cx="17383289" cy="11820636"/>
          </a:xfrm>
          <a:custGeom>
            <a:avLst/>
            <a:gdLst/>
            <a:ahLst/>
            <a:cxnLst/>
            <a:rect r="r" b="b" t="t" l="l"/>
            <a:pathLst>
              <a:path h="11820636" w="17383289">
                <a:moveTo>
                  <a:pt x="17383288" y="0"/>
                </a:moveTo>
                <a:lnTo>
                  <a:pt x="0" y="0"/>
                </a:lnTo>
                <a:lnTo>
                  <a:pt x="0" y="11820637"/>
                </a:lnTo>
                <a:lnTo>
                  <a:pt x="17383288" y="11820637"/>
                </a:lnTo>
                <a:lnTo>
                  <a:pt x="1738328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4511" y="2623060"/>
            <a:ext cx="994733" cy="2852280"/>
          </a:xfrm>
          <a:custGeom>
            <a:avLst/>
            <a:gdLst/>
            <a:ahLst/>
            <a:cxnLst/>
            <a:rect r="r" b="b" t="t" l="l"/>
            <a:pathLst>
              <a:path h="2852280" w="994733">
                <a:moveTo>
                  <a:pt x="0" y="0"/>
                </a:moveTo>
                <a:lnTo>
                  <a:pt x="994733" y="0"/>
                </a:lnTo>
                <a:lnTo>
                  <a:pt x="994733" y="2852280"/>
                </a:lnTo>
                <a:lnTo>
                  <a:pt x="0" y="285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66745" y="2798960"/>
            <a:ext cx="849751" cy="2676380"/>
          </a:xfrm>
          <a:custGeom>
            <a:avLst/>
            <a:gdLst/>
            <a:ahLst/>
            <a:cxnLst/>
            <a:rect r="r" b="b" t="t" l="l"/>
            <a:pathLst>
              <a:path h="2676380" w="849751">
                <a:moveTo>
                  <a:pt x="0" y="0"/>
                </a:moveTo>
                <a:lnTo>
                  <a:pt x="849751" y="0"/>
                </a:lnTo>
                <a:lnTo>
                  <a:pt x="849751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25128" y="2798960"/>
            <a:ext cx="796223" cy="2676380"/>
          </a:xfrm>
          <a:custGeom>
            <a:avLst/>
            <a:gdLst/>
            <a:ahLst/>
            <a:cxnLst/>
            <a:rect r="r" b="b" t="t" l="l"/>
            <a:pathLst>
              <a:path h="2676380" w="796223">
                <a:moveTo>
                  <a:pt x="0" y="0"/>
                </a:moveTo>
                <a:lnTo>
                  <a:pt x="796223" y="0"/>
                </a:lnTo>
                <a:lnTo>
                  <a:pt x="79622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74639" y="2798960"/>
            <a:ext cx="1217753" cy="2676380"/>
          </a:xfrm>
          <a:custGeom>
            <a:avLst/>
            <a:gdLst/>
            <a:ahLst/>
            <a:cxnLst/>
            <a:rect r="r" b="b" t="t" l="l"/>
            <a:pathLst>
              <a:path h="2676380" w="1217753">
                <a:moveTo>
                  <a:pt x="0" y="0"/>
                </a:moveTo>
                <a:lnTo>
                  <a:pt x="1217753" y="0"/>
                </a:lnTo>
                <a:lnTo>
                  <a:pt x="121775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514125" y="899290"/>
            <a:ext cx="21179183" cy="188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342"/>
              </a:lnSpc>
            </a:pPr>
            <a:r>
              <a:rPr lang="en-US" sz="12342" spc="12">
                <a:solidFill>
                  <a:srgbClr val="1D1D1B"/>
                </a:solidFill>
                <a:latin typeface="Funtastic"/>
                <a:ea typeface="Funtastic"/>
                <a:cs typeface="Funtastic"/>
                <a:sym typeface="Funtastic"/>
              </a:rPr>
              <a:t>DOUBLE REPLACEMENT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039564" y="5957656"/>
            <a:ext cx="20132305" cy="140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33"/>
              </a:lnSpc>
              <a:spcBef>
                <a:spcPct val="0"/>
              </a:spcBef>
            </a:pPr>
            <a:r>
              <a:rPr lang="en-US" b="true" sz="8238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AgNO ​+NaCl→AgCl↓+NaNO​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9244" y="6639831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76923" y="6639831"/>
            <a:ext cx="682377" cy="85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5"/>
              </a:lnSpc>
              <a:spcBef>
                <a:spcPct val="0"/>
              </a:spcBef>
            </a:pPr>
            <a:r>
              <a:rPr lang="en-US" b="true" sz="4996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91620" y="3340002"/>
            <a:ext cx="2015438" cy="164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342"/>
              </a:lnSpc>
            </a:pPr>
            <a:r>
              <a:rPr lang="en-US" b="true" sz="12342" spc="12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+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773949" y="4049200"/>
            <a:ext cx="1431684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462808" y="2798960"/>
            <a:ext cx="933387" cy="2676380"/>
          </a:xfrm>
          <a:custGeom>
            <a:avLst/>
            <a:gdLst/>
            <a:ahLst/>
            <a:cxnLst/>
            <a:rect r="r" b="b" t="t" l="l"/>
            <a:pathLst>
              <a:path h="2676380" w="933387">
                <a:moveTo>
                  <a:pt x="0" y="0"/>
                </a:moveTo>
                <a:lnTo>
                  <a:pt x="933387" y="0"/>
                </a:lnTo>
                <a:lnTo>
                  <a:pt x="933387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29545" y="2798960"/>
            <a:ext cx="796223" cy="2676380"/>
          </a:xfrm>
          <a:custGeom>
            <a:avLst/>
            <a:gdLst/>
            <a:ahLst/>
            <a:cxnLst/>
            <a:rect r="r" b="b" t="t" l="l"/>
            <a:pathLst>
              <a:path h="2676380" w="796223">
                <a:moveTo>
                  <a:pt x="0" y="0"/>
                </a:moveTo>
                <a:lnTo>
                  <a:pt x="796223" y="0"/>
                </a:lnTo>
                <a:lnTo>
                  <a:pt x="79622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53445" y="3340002"/>
            <a:ext cx="2015438" cy="164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342"/>
              </a:lnSpc>
            </a:pPr>
            <a:r>
              <a:rPr lang="en-US" b="true" sz="12342" spc="12">
                <a:solidFill>
                  <a:srgbClr val="1D1D1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+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660006" y="2798960"/>
            <a:ext cx="1217753" cy="2676380"/>
          </a:xfrm>
          <a:custGeom>
            <a:avLst/>
            <a:gdLst/>
            <a:ahLst/>
            <a:cxnLst/>
            <a:rect r="r" b="b" t="t" l="l"/>
            <a:pathLst>
              <a:path h="2676380" w="1217753">
                <a:moveTo>
                  <a:pt x="0" y="0"/>
                </a:moveTo>
                <a:lnTo>
                  <a:pt x="1217753" y="0"/>
                </a:lnTo>
                <a:lnTo>
                  <a:pt x="1217753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34934" y="2798960"/>
            <a:ext cx="849751" cy="2676380"/>
          </a:xfrm>
          <a:custGeom>
            <a:avLst/>
            <a:gdLst/>
            <a:ahLst/>
            <a:cxnLst/>
            <a:rect r="r" b="b" t="t" l="l"/>
            <a:pathLst>
              <a:path h="2676380" w="849751">
                <a:moveTo>
                  <a:pt x="0" y="0"/>
                </a:moveTo>
                <a:lnTo>
                  <a:pt x="849751" y="0"/>
                </a:lnTo>
                <a:lnTo>
                  <a:pt x="849751" y="2676380"/>
                </a:lnTo>
                <a:lnTo>
                  <a:pt x="0" y="26763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DAGt31TYJWM</dc:identifier>
  <dcterms:modified xsi:type="dcterms:W3CDTF">2011-08-01T06:04:30Z</dcterms:modified>
  <cp:revision>1</cp:revision>
  <dc:title>CHEMICAL EQUATIONS AND REACTIONS</dc:title>
</cp:coreProperties>
</file>