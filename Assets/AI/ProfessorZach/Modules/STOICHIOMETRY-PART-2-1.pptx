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orsok" charset="1" panose="02000503000000020002"/>
      <p:regular r:id="rId13"/>
    </p:embeddedFont>
    <p:embeddedFont>
      <p:font typeface="Comic Sans" charset="1" panose="03000702030302020204"/>
      <p:regular r:id="rId14"/>
    </p:embeddedFont>
    <p:embeddedFont>
      <p:font typeface="Comic Sans Bold" charset="1" panose="030009020303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145" y="-3324228"/>
            <a:ext cx="12652772" cy="6648457"/>
          </a:xfrm>
          <a:custGeom>
            <a:avLst/>
            <a:gdLst/>
            <a:ahLst/>
            <a:cxnLst/>
            <a:rect r="r" b="b" t="t" l="l"/>
            <a:pathLst>
              <a:path h="6648457" w="12652772">
                <a:moveTo>
                  <a:pt x="0" y="0"/>
                </a:moveTo>
                <a:lnTo>
                  <a:pt x="12652772" y="0"/>
                </a:lnTo>
                <a:lnTo>
                  <a:pt x="12652772" y="6648456"/>
                </a:lnTo>
                <a:lnTo>
                  <a:pt x="0" y="6648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90729">
            <a:off x="-646602" y="2924242"/>
            <a:ext cx="4167101" cy="7000222"/>
          </a:xfrm>
          <a:custGeom>
            <a:avLst/>
            <a:gdLst/>
            <a:ahLst/>
            <a:cxnLst/>
            <a:rect r="r" b="b" t="t" l="l"/>
            <a:pathLst>
              <a:path h="7000222" w="4167101">
                <a:moveTo>
                  <a:pt x="0" y="0"/>
                </a:moveTo>
                <a:lnTo>
                  <a:pt x="4167101" y="0"/>
                </a:lnTo>
                <a:lnTo>
                  <a:pt x="4167101" y="7000223"/>
                </a:lnTo>
                <a:lnTo>
                  <a:pt x="0" y="700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7725" y="4133798"/>
            <a:ext cx="13610923" cy="137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61"/>
              </a:lnSpc>
            </a:pPr>
            <a:r>
              <a:rPr lang="en-US" sz="10818" spc="833">
                <a:solidFill>
                  <a:srgbClr val="1F72B6"/>
                </a:solidFill>
                <a:latin typeface="Borsok"/>
                <a:ea typeface="Borsok"/>
                <a:cs typeface="Borsok"/>
                <a:sym typeface="Borsok"/>
              </a:rPr>
              <a:t>STOICHIOMETRY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632240" y="8328722"/>
            <a:ext cx="17609624" cy="3428806"/>
            <a:chOff x="0" y="0"/>
            <a:chExt cx="23479499" cy="4571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944737"/>
              <a:ext cx="8452763" cy="3627004"/>
            </a:xfrm>
            <a:custGeom>
              <a:avLst/>
              <a:gdLst/>
              <a:ahLst/>
              <a:cxnLst/>
              <a:rect r="r" b="b" t="t" l="l"/>
              <a:pathLst>
                <a:path h="3627004" w="8452763">
                  <a:moveTo>
                    <a:pt x="0" y="0"/>
                  </a:moveTo>
                  <a:lnTo>
                    <a:pt x="8452763" y="0"/>
                  </a:lnTo>
                  <a:lnTo>
                    <a:pt x="8452763" y="3627004"/>
                  </a:lnTo>
                  <a:lnTo>
                    <a:pt x="0" y="3627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235184" y="768638"/>
              <a:ext cx="8452763" cy="3627004"/>
            </a:xfrm>
            <a:custGeom>
              <a:avLst/>
              <a:gdLst/>
              <a:ahLst/>
              <a:cxnLst/>
              <a:rect r="r" b="b" t="t" l="l"/>
              <a:pathLst>
                <a:path h="3627004" w="8452763">
                  <a:moveTo>
                    <a:pt x="0" y="0"/>
                  </a:moveTo>
                  <a:lnTo>
                    <a:pt x="8452763" y="0"/>
                  </a:lnTo>
                  <a:lnTo>
                    <a:pt x="8452763" y="3627004"/>
                  </a:lnTo>
                  <a:lnTo>
                    <a:pt x="0" y="3627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026735" y="0"/>
              <a:ext cx="8452763" cy="4318594"/>
            </a:xfrm>
            <a:custGeom>
              <a:avLst/>
              <a:gdLst/>
              <a:ahLst/>
              <a:cxnLst/>
              <a:rect r="r" b="b" t="t" l="l"/>
              <a:pathLst>
                <a:path h="4318594" w="8452763">
                  <a:moveTo>
                    <a:pt x="0" y="0"/>
                  </a:moveTo>
                  <a:lnTo>
                    <a:pt x="8452764" y="0"/>
                  </a:lnTo>
                  <a:lnTo>
                    <a:pt x="8452764" y="4318594"/>
                  </a:lnTo>
                  <a:lnTo>
                    <a:pt x="0" y="4318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true" flipV="false" rot="0">
            <a:off x="14345847" y="5504890"/>
            <a:ext cx="3942153" cy="8380837"/>
          </a:xfrm>
          <a:custGeom>
            <a:avLst/>
            <a:gdLst/>
            <a:ahLst/>
            <a:cxnLst/>
            <a:rect r="r" b="b" t="t" l="l"/>
            <a:pathLst>
              <a:path h="8380837" w="3942153">
                <a:moveTo>
                  <a:pt x="3942153" y="0"/>
                </a:moveTo>
                <a:lnTo>
                  <a:pt x="0" y="0"/>
                </a:lnTo>
                <a:lnTo>
                  <a:pt x="0" y="8380837"/>
                </a:lnTo>
                <a:lnTo>
                  <a:pt x="3942153" y="8380837"/>
                </a:lnTo>
                <a:lnTo>
                  <a:pt x="3942153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245605">
            <a:off x="-1577237" y="7051666"/>
            <a:ext cx="5144038" cy="8759198"/>
          </a:xfrm>
          <a:custGeom>
            <a:avLst/>
            <a:gdLst/>
            <a:ahLst/>
            <a:cxnLst/>
            <a:rect r="r" b="b" t="t" l="l"/>
            <a:pathLst>
              <a:path h="8759198" w="5144038">
                <a:moveTo>
                  <a:pt x="0" y="0"/>
                </a:moveTo>
                <a:lnTo>
                  <a:pt x="5144038" y="0"/>
                </a:lnTo>
                <a:lnTo>
                  <a:pt x="5144038" y="8759198"/>
                </a:lnTo>
                <a:lnTo>
                  <a:pt x="0" y="87591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61890" y="378444"/>
            <a:ext cx="3137202" cy="1300513"/>
          </a:xfrm>
          <a:custGeom>
            <a:avLst/>
            <a:gdLst/>
            <a:ahLst/>
            <a:cxnLst/>
            <a:rect r="r" b="b" t="t" l="l"/>
            <a:pathLst>
              <a:path h="1300513" w="3137202">
                <a:moveTo>
                  <a:pt x="0" y="0"/>
                </a:moveTo>
                <a:lnTo>
                  <a:pt x="3137202" y="0"/>
                </a:lnTo>
                <a:lnTo>
                  <a:pt x="3137202" y="1300512"/>
                </a:lnTo>
                <a:lnTo>
                  <a:pt x="0" y="130051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76712">
            <a:off x="-455545" y="9025101"/>
            <a:ext cx="2900655" cy="3222950"/>
          </a:xfrm>
          <a:custGeom>
            <a:avLst/>
            <a:gdLst/>
            <a:ahLst/>
            <a:cxnLst/>
            <a:rect r="r" b="b" t="t" l="l"/>
            <a:pathLst>
              <a:path h="3222950" w="2900655">
                <a:moveTo>
                  <a:pt x="0" y="0"/>
                </a:moveTo>
                <a:lnTo>
                  <a:pt x="2900655" y="0"/>
                </a:lnTo>
                <a:lnTo>
                  <a:pt x="2900655" y="3222950"/>
                </a:lnTo>
                <a:lnTo>
                  <a:pt x="0" y="3222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21370">
            <a:off x="6616529" y="7257367"/>
            <a:ext cx="5201092" cy="2524894"/>
          </a:xfrm>
          <a:custGeom>
            <a:avLst/>
            <a:gdLst/>
            <a:ahLst/>
            <a:cxnLst/>
            <a:rect r="r" b="b" t="t" l="l"/>
            <a:pathLst>
              <a:path h="2524894" w="5201092">
                <a:moveTo>
                  <a:pt x="0" y="0"/>
                </a:moveTo>
                <a:lnTo>
                  <a:pt x="5201092" y="0"/>
                </a:lnTo>
                <a:lnTo>
                  <a:pt x="5201092" y="2524894"/>
                </a:lnTo>
                <a:lnTo>
                  <a:pt x="0" y="252489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998404" y="5303756"/>
            <a:ext cx="2437342" cy="9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5"/>
              </a:lnSpc>
              <a:spcBef>
                <a:spcPct val="0"/>
              </a:spcBef>
            </a:pPr>
            <a:r>
              <a:rPr lang="en-US" sz="5532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PART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68782" y="0"/>
            <a:ext cx="20625564" cy="10287000"/>
            <a:chOff x="0" y="0"/>
            <a:chExt cx="27500752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037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50376">
                  <a:moveTo>
                    <a:pt x="0" y="0"/>
                  </a:moveTo>
                  <a:lnTo>
                    <a:pt x="13750376" y="0"/>
                  </a:lnTo>
                  <a:lnTo>
                    <a:pt x="1375037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750376" y="0"/>
              <a:ext cx="1375037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50376">
                  <a:moveTo>
                    <a:pt x="0" y="0"/>
                  </a:moveTo>
                  <a:lnTo>
                    <a:pt x="13750376" y="0"/>
                  </a:lnTo>
                  <a:lnTo>
                    <a:pt x="1375037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873315" y="6961596"/>
            <a:ext cx="23266751" cy="4530317"/>
            <a:chOff x="0" y="0"/>
            <a:chExt cx="31022335" cy="6040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48236"/>
              <a:ext cx="11168231" cy="4792186"/>
            </a:xfrm>
            <a:custGeom>
              <a:avLst/>
              <a:gdLst/>
              <a:ahLst/>
              <a:cxnLst/>
              <a:rect r="r" b="b" t="t" l="l"/>
              <a:pathLst>
                <a:path h="4792186" w="11168231">
                  <a:moveTo>
                    <a:pt x="0" y="0"/>
                  </a:moveTo>
                  <a:lnTo>
                    <a:pt x="11168231" y="0"/>
                  </a:lnTo>
                  <a:lnTo>
                    <a:pt x="11168231" y="4792186"/>
                  </a:lnTo>
                  <a:lnTo>
                    <a:pt x="0" y="4792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559502" y="1015564"/>
              <a:ext cx="11168231" cy="4792186"/>
            </a:xfrm>
            <a:custGeom>
              <a:avLst/>
              <a:gdLst/>
              <a:ahLst/>
              <a:cxnLst/>
              <a:rect r="r" b="b" t="t" l="l"/>
              <a:pathLst>
                <a:path h="4792186" w="11168231">
                  <a:moveTo>
                    <a:pt x="0" y="0"/>
                  </a:moveTo>
                  <a:lnTo>
                    <a:pt x="11168230" y="0"/>
                  </a:lnTo>
                  <a:lnTo>
                    <a:pt x="11168230" y="4792187"/>
                  </a:lnTo>
                  <a:lnTo>
                    <a:pt x="0" y="479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854104" y="0"/>
              <a:ext cx="11168231" cy="5705951"/>
            </a:xfrm>
            <a:custGeom>
              <a:avLst/>
              <a:gdLst/>
              <a:ahLst/>
              <a:cxnLst/>
              <a:rect r="r" b="b" t="t" l="l"/>
              <a:pathLst>
                <a:path h="5705951" w="11168231">
                  <a:moveTo>
                    <a:pt x="0" y="0"/>
                  </a:moveTo>
                  <a:lnTo>
                    <a:pt x="11168231" y="0"/>
                  </a:lnTo>
                  <a:lnTo>
                    <a:pt x="11168231" y="5705951"/>
                  </a:lnTo>
                  <a:lnTo>
                    <a:pt x="0" y="5705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194297" y="-2798873"/>
            <a:ext cx="11899406" cy="20262147"/>
          </a:xfrm>
          <a:custGeom>
            <a:avLst/>
            <a:gdLst/>
            <a:ahLst/>
            <a:cxnLst/>
            <a:rect r="r" b="b" t="t" l="l"/>
            <a:pathLst>
              <a:path h="20262147" w="11899406">
                <a:moveTo>
                  <a:pt x="0" y="0"/>
                </a:moveTo>
                <a:lnTo>
                  <a:pt x="11899406" y="0"/>
                </a:lnTo>
                <a:lnTo>
                  <a:pt x="11899406" y="20262147"/>
                </a:lnTo>
                <a:lnTo>
                  <a:pt x="0" y="202621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41861" y="2495085"/>
            <a:ext cx="9404278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PROBLEM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05137" y="3472139"/>
            <a:ext cx="10343367" cy="370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2"/>
              </a:lnSpc>
              <a:spcBef>
                <a:spcPct val="0"/>
              </a:spcBef>
            </a:pPr>
            <a:r>
              <a:rPr lang="en-US" sz="7073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If 90.5 grams of Ag was produced, how many grams of Cu reacted?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29513" y="3105274"/>
            <a:ext cx="3362891" cy="7353186"/>
          </a:xfrm>
          <a:custGeom>
            <a:avLst/>
            <a:gdLst/>
            <a:ahLst/>
            <a:cxnLst/>
            <a:rect r="r" b="b" t="t" l="l"/>
            <a:pathLst>
              <a:path h="7353186" w="3362891">
                <a:moveTo>
                  <a:pt x="0" y="0"/>
                </a:moveTo>
                <a:lnTo>
                  <a:pt x="3362891" y="0"/>
                </a:lnTo>
                <a:lnTo>
                  <a:pt x="3362891" y="7353186"/>
                </a:lnTo>
                <a:lnTo>
                  <a:pt x="0" y="73531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44592" y="7799239"/>
            <a:ext cx="11389384" cy="78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1"/>
              </a:lnSpc>
              <a:spcBef>
                <a:spcPct val="0"/>
              </a:spcBef>
            </a:pPr>
            <a:r>
              <a:rPr lang="en-US" b="true" sz="4607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Cu + AgNO         Cu (NO ) + Ag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61836" y="8254591"/>
            <a:ext cx="498009" cy="4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b="true" sz="263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6875" y="8300043"/>
            <a:ext cx="431428" cy="38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b="true" sz="227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8178" y="8300043"/>
            <a:ext cx="431428" cy="38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b="true" sz="227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220499" y="8330791"/>
            <a:ext cx="119540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81337" y="6868406"/>
            <a:ext cx="4662663" cy="4114800"/>
          </a:xfrm>
          <a:custGeom>
            <a:avLst/>
            <a:gdLst/>
            <a:ahLst/>
            <a:cxnLst/>
            <a:rect r="r" b="b" t="t" l="l"/>
            <a:pathLst>
              <a:path h="4114800" w="4662663">
                <a:moveTo>
                  <a:pt x="0" y="0"/>
                </a:moveTo>
                <a:lnTo>
                  <a:pt x="4662663" y="0"/>
                </a:lnTo>
                <a:lnTo>
                  <a:pt x="4662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84118">
            <a:off x="319176" y="700471"/>
            <a:ext cx="3192543" cy="2922507"/>
          </a:xfrm>
          <a:custGeom>
            <a:avLst/>
            <a:gdLst/>
            <a:ahLst/>
            <a:cxnLst/>
            <a:rect r="r" b="b" t="t" l="l"/>
            <a:pathLst>
              <a:path h="2922507" w="3192543">
                <a:moveTo>
                  <a:pt x="0" y="0"/>
                </a:moveTo>
                <a:lnTo>
                  <a:pt x="3192544" y="0"/>
                </a:lnTo>
                <a:lnTo>
                  <a:pt x="3192544" y="2922507"/>
                </a:lnTo>
                <a:lnTo>
                  <a:pt x="0" y="2922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24455">
            <a:off x="14966917" y="412108"/>
            <a:ext cx="2671670" cy="2417862"/>
          </a:xfrm>
          <a:custGeom>
            <a:avLst/>
            <a:gdLst/>
            <a:ahLst/>
            <a:cxnLst/>
            <a:rect r="r" b="b" t="t" l="l"/>
            <a:pathLst>
              <a:path h="2417862" w="2671670">
                <a:moveTo>
                  <a:pt x="0" y="0"/>
                </a:moveTo>
                <a:lnTo>
                  <a:pt x="2671670" y="0"/>
                </a:lnTo>
                <a:lnTo>
                  <a:pt x="2671670" y="2417862"/>
                </a:lnTo>
                <a:lnTo>
                  <a:pt x="0" y="24178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2473" y="4131538"/>
            <a:ext cx="2397620" cy="1567444"/>
          </a:xfrm>
          <a:custGeom>
            <a:avLst/>
            <a:gdLst/>
            <a:ahLst/>
            <a:cxnLst/>
            <a:rect r="r" b="b" t="t" l="l"/>
            <a:pathLst>
              <a:path h="1567444" w="2397620">
                <a:moveTo>
                  <a:pt x="0" y="0"/>
                </a:moveTo>
                <a:lnTo>
                  <a:pt x="2397620" y="0"/>
                </a:lnTo>
                <a:lnTo>
                  <a:pt x="2397620" y="1567445"/>
                </a:lnTo>
                <a:lnTo>
                  <a:pt x="0" y="15674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36931">
            <a:off x="970925" y="6842356"/>
            <a:ext cx="2654214" cy="2539198"/>
          </a:xfrm>
          <a:custGeom>
            <a:avLst/>
            <a:gdLst/>
            <a:ahLst/>
            <a:cxnLst/>
            <a:rect r="r" b="b" t="t" l="l"/>
            <a:pathLst>
              <a:path h="2539198" w="2654214">
                <a:moveTo>
                  <a:pt x="0" y="0"/>
                </a:moveTo>
                <a:lnTo>
                  <a:pt x="2654214" y="0"/>
                </a:lnTo>
                <a:lnTo>
                  <a:pt x="2654214" y="2539199"/>
                </a:lnTo>
                <a:lnTo>
                  <a:pt x="0" y="25391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48739" y="8585694"/>
            <a:ext cx="2618416" cy="1345211"/>
          </a:xfrm>
          <a:custGeom>
            <a:avLst/>
            <a:gdLst/>
            <a:ahLst/>
            <a:cxnLst/>
            <a:rect r="r" b="b" t="t" l="l"/>
            <a:pathLst>
              <a:path h="1345211" w="2618416">
                <a:moveTo>
                  <a:pt x="0" y="0"/>
                </a:moveTo>
                <a:lnTo>
                  <a:pt x="2618416" y="0"/>
                </a:lnTo>
                <a:lnTo>
                  <a:pt x="2618416" y="1345212"/>
                </a:lnTo>
                <a:lnTo>
                  <a:pt x="0" y="1345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05795" y="342512"/>
            <a:ext cx="11381211" cy="9740481"/>
          </a:xfrm>
          <a:custGeom>
            <a:avLst/>
            <a:gdLst/>
            <a:ahLst/>
            <a:cxnLst/>
            <a:rect r="r" b="b" t="t" l="l"/>
            <a:pathLst>
              <a:path h="9740481" w="11381211">
                <a:moveTo>
                  <a:pt x="0" y="0"/>
                </a:moveTo>
                <a:lnTo>
                  <a:pt x="11381210" y="0"/>
                </a:lnTo>
                <a:lnTo>
                  <a:pt x="11381210" y="9740481"/>
                </a:lnTo>
                <a:lnTo>
                  <a:pt x="0" y="974048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9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35263" y="5294755"/>
            <a:ext cx="5262753" cy="9071532"/>
          </a:xfrm>
          <a:custGeom>
            <a:avLst/>
            <a:gdLst/>
            <a:ahLst/>
            <a:cxnLst/>
            <a:rect r="r" b="b" t="t" l="l"/>
            <a:pathLst>
              <a:path h="9071532" w="5262753">
                <a:moveTo>
                  <a:pt x="0" y="0"/>
                </a:moveTo>
                <a:lnTo>
                  <a:pt x="5262753" y="0"/>
                </a:lnTo>
                <a:lnTo>
                  <a:pt x="5262753" y="9071532"/>
                </a:lnTo>
                <a:lnTo>
                  <a:pt x="0" y="90715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616713" y="5594208"/>
            <a:ext cx="3679687" cy="9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1"/>
              </a:lnSpc>
              <a:spcBef>
                <a:spcPct val="0"/>
              </a:spcBef>
            </a:pPr>
            <a:r>
              <a:rPr lang="en-US" sz="5450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mass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16713" y="3203172"/>
            <a:ext cx="3679687" cy="9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1"/>
              </a:lnSpc>
              <a:spcBef>
                <a:spcPct val="0"/>
              </a:spcBef>
            </a:pPr>
            <a:r>
              <a:rPr lang="en-US" sz="5450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mole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87469" y="3203172"/>
            <a:ext cx="3679687" cy="9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1"/>
              </a:lnSpc>
              <a:spcBef>
                <a:spcPct val="0"/>
              </a:spcBef>
            </a:pPr>
            <a:r>
              <a:rPr lang="en-US" sz="5450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mole 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87469" y="5594208"/>
            <a:ext cx="3679687" cy="9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1"/>
              </a:lnSpc>
              <a:spcBef>
                <a:spcPct val="0"/>
              </a:spcBef>
            </a:pPr>
            <a:r>
              <a:rPr lang="en-US" sz="5450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mass B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7402839" y="4280097"/>
            <a:ext cx="34672" cy="15582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1546362" y="4279711"/>
            <a:ext cx="0" cy="15586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8764864" y="3738793"/>
            <a:ext cx="15586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8" id="18"/>
          <p:cNvSpPr txBox="true"/>
          <p:nvPr/>
        </p:nvSpPr>
        <p:spPr>
          <a:xfrm rot="0">
            <a:off x="8903495" y="3033462"/>
            <a:ext cx="1251166" cy="62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  <a:spcBef>
                <a:spcPct val="0"/>
              </a:spcBef>
            </a:pPr>
            <a:r>
              <a:rPr lang="en-US" b="true" sz="1853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balanced equation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2928" y="877746"/>
            <a:ext cx="9782145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01224" y="1830619"/>
            <a:ext cx="10885552" cy="63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  <a:spcBef>
                <a:spcPct val="0"/>
              </a:spcBef>
            </a:pPr>
            <a:r>
              <a:rPr lang="en-US" b="true" sz="372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Cu + 2AgNO          Cu (NO ) + 2Ag</a:t>
            </a:r>
          </a:p>
        </p:txBody>
      </p:sp>
      <p:sp>
        <p:nvSpPr>
          <p:cNvPr name="AutoShape 5" id="5"/>
          <p:cNvSpPr/>
          <p:nvPr/>
        </p:nvSpPr>
        <p:spPr>
          <a:xfrm>
            <a:off x="8391037" y="2188176"/>
            <a:ext cx="9654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0" y="3371079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90.5 g Ag x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16499" y="2909183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 mol Ag</a:t>
            </a:r>
          </a:p>
        </p:txBody>
      </p:sp>
      <p:sp>
        <p:nvSpPr>
          <p:cNvPr name="AutoShape 8" id="8"/>
          <p:cNvSpPr/>
          <p:nvPr/>
        </p:nvSpPr>
        <p:spPr>
          <a:xfrm>
            <a:off x="3745689" y="3768021"/>
            <a:ext cx="22842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116499" y="3682296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108 g 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36967" y="3371079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57433" y="2984523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 mol Cu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686623" y="3843360"/>
            <a:ext cx="22842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057433" y="3757635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 mol Ag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79600" y="3371079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x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1429281" y="3866912"/>
            <a:ext cx="228425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893965" y="3124894"/>
            <a:ext cx="4394035" cy="1286254"/>
          </a:xfrm>
          <a:custGeom>
            <a:avLst/>
            <a:gdLst/>
            <a:ahLst/>
            <a:cxnLst/>
            <a:rect r="r" b="b" t="t" l="l"/>
            <a:pathLst>
              <a:path h="1286254" w="4394035">
                <a:moveTo>
                  <a:pt x="0" y="0"/>
                </a:moveTo>
                <a:lnTo>
                  <a:pt x="4394035" y="0"/>
                </a:lnTo>
                <a:lnTo>
                  <a:pt x="4394035" y="1286254"/>
                </a:lnTo>
                <a:lnTo>
                  <a:pt x="0" y="128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711689" y="2150076"/>
            <a:ext cx="431428" cy="38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b="true" sz="227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48987" y="2150076"/>
            <a:ext cx="431428" cy="38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b="true" sz="227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80415" y="2150076"/>
            <a:ext cx="431428" cy="38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b="true" sz="227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0091" y="3008075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64 g Cu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00091" y="3781187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 mol Cu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2257" y="3405033"/>
            <a:ext cx="3542633" cy="70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=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36363" y="3405033"/>
            <a:ext cx="3656735" cy="72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4"/>
              </a:lnSpc>
              <a:spcBef>
                <a:spcPct val="0"/>
              </a:spcBef>
            </a:pPr>
            <a:r>
              <a:rPr lang="en-US" b="true" sz="4288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26.81 g Cu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1316" y="5584722"/>
            <a:ext cx="14391873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PRACTICE PROBLEM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513997" y="6647501"/>
            <a:ext cx="19315995" cy="78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2"/>
              </a:lnSpc>
              <a:spcBef>
                <a:spcPct val="0"/>
              </a:spcBef>
            </a:pPr>
            <a:r>
              <a:rPr lang="en-US" b="true" sz="4644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If 13.5 g of H  is produced, how many grams of Al reacted?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56387" y="7014472"/>
            <a:ext cx="680580" cy="60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b="true" sz="3595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55359" y="7678053"/>
            <a:ext cx="11131417" cy="103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2"/>
              </a:lnSpc>
              <a:spcBef>
                <a:spcPct val="0"/>
              </a:spcBef>
            </a:pPr>
            <a:r>
              <a:rPr lang="en-US" b="true" sz="6122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Al + HCl      AlCl  + H</a:t>
            </a:r>
          </a:p>
        </p:txBody>
      </p:sp>
      <p:sp>
        <p:nvSpPr>
          <p:cNvPr name="AutoShape 28" id="28"/>
          <p:cNvSpPr/>
          <p:nvPr/>
        </p:nvSpPr>
        <p:spPr>
          <a:xfrm>
            <a:off x="8310296" y="8270022"/>
            <a:ext cx="104622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9" id="29"/>
          <p:cNvSpPr txBox="true"/>
          <p:nvPr/>
        </p:nvSpPr>
        <p:spPr>
          <a:xfrm rot="0">
            <a:off x="11233234" y="8174772"/>
            <a:ext cx="737495" cy="66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4"/>
              </a:lnSpc>
              <a:spcBef>
                <a:spcPct val="0"/>
              </a:spcBef>
            </a:pPr>
            <a:r>
              <a:rPr lang="en-US" b="true" sz="3896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14874" y="8174772"/>
            <a:ext cx="737495" cy="66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4"/>
              </a:lnSpc>
              <a:spcBef>
                <a:spcPct val="0"/>
              </a:spcBef>
            </a:pPr>
            <a:r>
              <a:rPr lang="en-US" b="true" sz="3896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68782" y="0"/>
            <a:ext cx="20625564" cy="10287000"/>
            <a:chOff x="0" y="0"/>
            <a:chExt cx="27500752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037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50376">
                  <a:moveTo>
                    <a:pt x="0" y="0"/>
                  </a:moveTo>
                  <a:lnTo>
                    <a:pt x="13750376" y="0"/>
                  </a:lnTo>
                  <a:lnTo>
                    <a:pt x="1375037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750376" y="0"/>
              <a:ext cx="1375037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50376">
                  <a:moveTo>
                    <a:pt x="0" y="0"/>
                  </a:moveTo>
                  <a:lnTo>
                    <a:pt x="13750376" y="0"/>
                  </a:lnTo>
                  <a:lnTo>
                    <a:pt x="1375037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873315" y="6961596"/>
            <a:ext cx="23266751" cy="4530317"/>
            <a:chOff x="0" y="0"/>
            <a:chExt cx="31022335" cy="6040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48236"/>
              <a:ext cx="11168231" cy="4792186"/>
            </a:xfrm>
            <a:custGeom>
              <a:avLst/>
              <a:gdLst/>
              <a:ahLst/>
              <a:cxnLst/>
              <a:rect r="r" b="b" t="t" l="l"/>
              <a:pathLst>
                <a:path h="4792186" w="11168231">
                  <a:moveTo>
                    <a:pt x="0" y="0"/>
                  </a:moveTo>
                  <a:lnTo>
                    <a:pt x="11168231" y="0"/>
                  </a:lnTo>
                  <a:lnTo>
                    <a:pt x="11168231" y="4792186"/>
                  </a:lnTo>
                  <a:lnTo>
                    <a:pt x="0" y="4792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559502" y="1015564"/>
              <a:ext cx="11168231" cy="4792186"/>
            </a:xfrm>
            <a:custGeom>
              <a:avLst/>
              <a:gdLst/>
              <a:ahLst/>
              <a:cxnLst/>
              <a:rect r="r" b="b" t="t" l="l"/>
              <a:pathLst>
                <a:path h="4792186" w="11168231">
                  <a:moveTo>
                    <a:pt x="0" y="0"/>
                  </a:moveTo>
                  <a:lnTo>
                    <a:pt x="11168230" y="0"/>
                  </a:lnTo>
                  <a:lnTo>
                    <a:pt x="11168230" y="4792187"/>
                  </a:lnTo>
                  <a:lnTo>
                    <a:pt x="0" y="479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854104" y="0"/>
              <a:ext cx="11168231" cy="5705951"/>
            </a:xfrm>
            <a:custGeom>
              <a:avLst/>
              <a:gdLst/>
              <a:ahLst/>
              <a:cxnLst/>
              <a:rect r="r" b="b" t="t" l="l"/>
              <a:pathLst>
                <a:path h="5705951" w="11168231">
                  <a:moveTo>
                    <a:pt x="0" y="0"/>
                  </a:moveTo>
                  <a:lnTo>
                    <a:pt x="11168231" y="0"/>
                  </a:lnTo>
                  <a:lnTo>
                    <a:pt x="11168231" y="5705951"/>
                  </a:lnTo>
                  <a:lnTo>
                    <a:pt x="0" y="5705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194297" y="-2776168"/>
            <a:ext cx="11899406" cy="20262147"/>
          </a:xfrm>
          <a:custGeom>
            <a:avLst/>
            <a:gdLst/>
            <a:ahLst/>
            <a:cxnLst/>
            <a:rect r="r" b="b" t="t" l="l"/>
            <a:pathLst>
              <a:path h="20262147" w="11899406">
                <a:moveTo>
                  <a:pt x="0" y="0"/>
                </a:moveTo>
                <a:lnTo>
                  <a:pt x="11899406" y="0"/>
                </a:lnTo>
                <a:lnTo>
                  <a:pt x="11899406" y="20262146"/>
                </a:lnTo>
                <a:lnTo>
                  <a:pt x="0" y="202621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41861" y="2495085"/>
            <a:ext cx="9404278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PROBLEM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05137" y="3434039"/>
            <a:ext cx="10477725" cy="663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0"/>
              </a:lnSpc>
              <a:spcBef>
                <a:spcPct val="0"/>
              </a:spcBef>
            </a:pPr>
            <a:r>
              <a:rPr lang="en-US" sz="9486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If 72 g of H O is produced, how many grams of O were used?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29513" y="3105274"/>
            <a:ext cx="3362891" cy="7353186"/>
          </a:xfrm>
          <a:custGeom>
            <a:avLst/>
            <a:gdLst/>
            <a:ahLst/>
            <a:cxnLst/>
            <a:rect r="r" b="b" t="t" l="l"/>
            <a:pathLst>
              <a:path h="7353186" w="3362891">
                <a:moveTo>
                  <a:pt x="0" y="0"/>
                </a:moveTo>
                <a:lnTo>
                  <a:pt x="3362891" y="0"/>
                </a:lnTo>
                <a:lnTo>
                  <a:pt x="3362891" y="7353186"/>
                </a:lnTo>
                <a:lnTo>
                  <a:pt x="0" y="73531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168197" y="4128105"/>
            <a:ext cx="690862" cy="10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9"/>
              </a:lnSpc>
              <a:spcBef>
                <a:spcPct val="0"/>
              </a:spcBef>
            </a:pPr>
            <a:r>
              <a:rPr lang="en-US" sz="5963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92001" y="7507961"/>
            <a:ext cx="690862" cy="101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9"/>
              </a:lnSpc>
              <a:spcBef>
                <a:spcPct val="0"/>
              </a:spcBef>
            </a:pPr>
            <a:r>
              <a:rPr lang="en-US" sz="5963">
                <a:solidFill>
                  <a:srgbClr val="010043"/>
                </a:solidFill>
                <a:latin typeface="Comic Sans"/>
                <a:ea typeface="Comic Sans"/>
                <a:cs typeface="Comic Sans"/>
                <a:sym typeface="Comic Sa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873534" y="1990075"/>
            <a:ext cx="91436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>
            <a:off x="14464968" y="4862242"/>
            <a:ext cx="1295560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967202" y="6818800"/>
            <a:ext cx="1742867" cy="57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 mol 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0677" y="6978588"/>
            <a:ext cx="278785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7100009" y="7483632"/>
            <a:ext cx="1610061" cy="1074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232246" y="7997451"/>
            <a:ext cx="1675117" cy="490352"/>
          </a:xfrm>
          <a:custGeom>
            <a:avLst/>
            <a:gdLst/>
            <a:ahLst/>
            <a:cxnLst/>
            <a:rect r="r" b="b" t="t" l="l"/>
            <a:pathLst>
              <a:path h="490352" w="1675117">
                <a:moveTo>
                  <a:pt x="0" y="0"/>
                </a:moveTo>
                <a:lnTo>
                  <a:pt x="1675117" y="0"/>
                </a:lnTo>
                <a:lnTo>
                  <a:pt x="1675117" y="490352"/>
                </a:lnTo>
                <a:lnTo>
                  <a:pt x="0" y="49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49051" y="454713"/>
            <a:ext cx="9782145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217" y="2724275"/>
            <a:ext cx="2648276" cy="87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7"/>
              </a:lnSpc>
              <a:spcBef>
                <a:spcPct val="0"/>
              </a:spcBef>
            </a:pPr>
            <a:r>
              <a:rPr lang="en-US" sz="5176" b="true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Step 1: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00" y="3676700"/>
            <a:ext cx="3761635" cy="57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4"/>
              </a:lnSpc>
              <a:spcBef>
                <a:spcPct val="0"/>
              </a:spcBef>
            </a:pPr>
            <a:r>
              <a:rPr lang="en-US" sz="3453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Given: 72g H 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61179" y="1336518"/>
            <a:ext cx="3910341" cy="81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9"/>
              </a:lnSpc>
              <a:spcBef>
                <a:spcPct val="0"/>
              </a:spcBef>
            </a:pPr>
            <a:r>
              <a:rPr lang="en-US" b="true" sz="4842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2H  + 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0369" y="1655926"/>
            <a:ext cx="356687" cy="6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5"/>
              </a:lnSpc>
              <a:spcBef>
                <a:spcPct val="0"/>
              </a:spcBef>
            </a:pPr>
            <a:r>
              <a:rPr lang="en-US" b="true" sz="3825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29336" y="1655926"/>
            <a:ext cx="356687" cy="6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5"/>
              </a:lnSpc>
              <a:spcBef>
                <a:spcPct val="0"/>
              </a:spcBef>
            </a:pPr>
            <a:r>
              <a:rPr lang="en-US" b="true" sz="3825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76556" y="1475678"/>
            <a:ext cx="3910341" cy="81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9"/>
              </a:lnSpc>
              <a:spcBef>
                <a:spcPct val="0"/>
              </a:spcBef>
            </a:pPr>
            <a:r>
              <a:rPr lang="en-US" sz="4842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2H 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47271" y="1779751"/>
            <a:ext cx="356687" cy="6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5"/>
              </a:lnSpc>
              <a:spcBef>
                <a:spcPct val="0"/>
              </a:spcBef>
            </a:pPr>
            <a:r>
              <a:rPr lang="en-US" b="true" sz="3825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63235" y="3862389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17" y="4238938"/>
            <a:ext cx="3761635" cy="57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4"/>
              </a:lnSpc>
              <a:spcBef>
                <a:spcPct val="0"/>
              </a:spcBef>
            </a:pPr>
            <a:r>
              <a:rPr lang="en-US" sz="3453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Problem: g 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2941" y="4411834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96604" y="2724275"/>
            <a:ext cx="2648276" cy="87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7"/>
              </a:lnSpc>
              <a:spcBef>
                <a:spcPct val="0"/>
              </a:spcBef>
            </a:pPr>
            <a:r>
              <a:rPr lang="en-US" b="true" sz="5176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Step 2: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13645" y="3701764"/>
            <a:ext cx="7265545" cy="16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Find the molar masses</a:t>
            </a:r>
          </a:p>
          <a:p>
            <a:pPr algn="l">
              <a:lnSpc>
                <a:spcPts val="4370"/>
              </a:lnSpc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 O: 2 (1.01) + 16.00 = 18 g/mol</a:t>
            </a:r>
          </a:p>
          <a:p>
            <a:pPr algn="l">
              <a:lnSpc>
                <a:spcPts val="4370"/>
              </a:lnSpc>
              <a:spcBef>
                <a:spcPct val="0"/>
              </a:spcBef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O : 2 (16.0) = 32 g/mol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69794" y="4411834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69794" y="5076403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44500" y="2724275"/>
            <a:ext cx="3377337" cy="87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7"/>
              </a:lnSpc>
              <a:spcBef>
                <a:spcPct val="0"/>
              </a:spcBef>
            </a:pPr>
            <a:r>
              <a:rPr lang="en-US" b="true" sz="5176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Step 3: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1284" y="3676700"/>
            <a:ext cx="7265545" cy="53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  <a:spcBef>
                <a:spcPct val="0"/>
              </a:spcBef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Convert g H  O to mol H  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76945" y="3851458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94666" y="3862389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81284" y="4198548"/>
            <a:ext cx="2220976" cy="53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  <a:spcBef>
                <a:spcPct val="0"/>
              </a:spcBef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mol H  O =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49266" y="4411834"/>
            <a:ext cx="262045" cy="47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b="true" sz="2810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23915" y="4238938"/>
            <a:ext cx="3957587" cy="53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0"/>
              </a:lnSpc>
              <a:spcBef>
                <a:spcPct val="0"/>
              </a:spcBef>
            </a:pPr>
            <a:r>
              <a:rPr lang="en-US" sz="3121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72 g    = 4.0 mol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39198" y="4838642"/>
            <a:ext cx="2220976" cy="53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0"/>
              </a:lnSpc>
              <a:spcBef>
                <a:spcPct val="0"/>
              </a:spcBef>
            </a:pPr>
            <a:r>
              <a:rPr lang="en-US" b="true" sz="3121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18.0 g/mol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91911" y="5848218"/>
            <a:ext cx="3593100" cy="93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0"/>
              </a:lnSpc>
              <a:spcBef>
                <a:spcPct val="0"/>
              </a:spcBef>
            </a:pPr>
            <a:r>
              <a:rPr lang="en-US" b="true" sz="5507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Step 4: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4201" y="6911057"/>
            <a:ext cx="2362864" cy="57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mol O  =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95633" y="7146173"/>
            <a:ext cx="278785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63519" y="6911057"/>
            <a:ext cx="1742867" cy="57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4.0 mol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46108" y="6911057"/>
            <a:ext cx="1088157" cy="57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H  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33648" y="7081275"/>
            <a:ext cx="278785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63778" y="7081275"/>
            <a:ext cx="278785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00009" y="7553634"/>
            <a:ext cx="2334822" cy="57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sz="3320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 mol H O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63860" y="7738448"/>
            <a:ext cx="278785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27809" y="8386706"/>
            <a:ext cx="2758214" cy="50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5"/>
              </a:lnSpc>
              <a:spcBef>
                <a:spcPct val="0"/>
              </a:spcBef>
            </a:pPr>
            <a:r>
              <a:rPr lang="en-US" b="true" sz="2989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= 2.0 mol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39445" y="6274533"/>
            <a:ext cx="3410857" cy="89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b="true" sz="5228">
                <a:solidFill>
                  <a:srgbClr val="FF2828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Step 5: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72290" y="7253956"/>
            <a:ext cx="8187637" cy="120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3487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Convert moles O  to grams O  </a:t>
            </a:r>
          </a:p>
          <a:p>
            <a:pPr algn="l">
              <a:lnSpc>
                <a:spcPts val="4882"/>
              </a:lnSpc>
              <a:spcBef>
                <a:spcPct val="0"/>
              </a:spcBef>
            </a:pPr>
            <a:r>
              <a:rPr lang="en-US" sz="3487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mass O  = 64 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06614" y="7523623"/>
            <a:ext cx="264645" cy="4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3"/>
              </a:lnSpc>
              <a:spcBef>
                <a:spcPct val="0"/>
              </a:spcBef>
            </a:pPr>
            <a:r>
              <a:rPr lang="en-US" b="true" sz="2838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467636" y="7523623"/>
            <a:ext cx="264645" cy="4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3"/>
              </a:lnSpc>
              <a:spcBef>
                <a:spcPct val="0"/>
              </a:spcBef>
            </a:pPr>
            <a:r>
              <a:rPr lang="en-US" b="true" sz="2838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731101" y="8195002"/>
            <a:ext cx="264645" cy="47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3"/>
              </a:lnSpc>
              <a:spcBef>
                <a:spcPct val="0"/>
              </a:spcBef>
            </a:pPr>
            <a:r>
              <a:rPr lang="en-US" b="true" sz="2838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0278" y="694643"/>
            <a:ext cx="15487444" cy="111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8731" spc="672">
                <a:solidFill>
                  <a:srgbClr val="FFFFFF"/>
                </a:solidFill>
                <a:latin typeface="Borsok"/>
                <a:ea typeface="Borsok"/>
                <a:cs typeface="Borsok"/>
                <a:sym typeface="Borsok"/>
              </a:rPr>
              <a:t>PRACTICE 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6907" y="2833747"/>
            <a:ext cx="17630756" cy="24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1"/>
              </a:lnSpc>
              <a:spcBef>
                <a:spcPct val="0"/>
              </a:spcBef>
            </a:pPr>
            <a:r>
              <a:rPr lang="en-US" sz="6922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If 112g of Fe is produced, how many grams of Fe O  reacted?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6609" y="4645348"/>
            <a:ext cx="957010" cy="81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9"/>
              </a:lnSpc>
              <a:spcBef>
                <a:spcPct val="0"/>
              </a:spcBef>
            </a:pPr>
            <a:r>
              <a:rPr lang="en-US" sz="4842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5513" y="4645348"/>
            <a:ext cx="957010" cy="81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9"/>
              </a:lnSpc>
              <a:spcBef>
                <a:spcPct val="0"/>
              </a:spcBef>
            </a:pPr>
            <a:r>
              <a:rPr lang="en-US" sz="4842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973" y="6187972"/>
            <a:ext cx="26089154" cy="17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7"/>
              </a:lnSpc>
              <a:spcBef>
                <a:spcPct val="0"/>
              </a:spcBef>
            </a:pPr>
            <a:r>
              <a:rPr lang="en-US" sz="10019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Fe O  + CO      Fe + 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2715" y="6979561"/>
            <a:ext cx="1416138" cy="119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3"/>
              </a:lnSpc>
              <a:spcBef>
                <a:spcPct val="0"/>
              </a:spcBef>
            </a:pPr>
            <a:r>
              <a:rPr lang="en-US" sz="7009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93745" y="6979561"/>
            <a:ext cx="1416138" cy="119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3"/>
              </a:lnSpc>
              <a:spcBef>
                <a:spcPct val="0"/>
              </a:spcBef>
            </a:pPr>
            <a:r>
              <a:rPr lang="en-US" sz="7009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211053" y="7168059"/>
            <a:ext cx="2671805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16420866" y="6979561"/>
            <a:ext cx="1416138" cy="119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3"/>
              </a:lnSpc>
              <a:spcBef>
                <a:spcPct val="0"/>
              </a:spcBef>
            </a:pPr>
            <a:r>
              <a:rPr lang="en-US" sz="7009" b="true">
                <a:solidFill>
                  <a:srgbClr val="010043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DAGzMR1HwCM</dc:identifier>
  <dcterms:modified xsi:type="dcterms:W3CDTF">2011-08-01T06:04:30Z</dcterms:modified>
  <cp:revision>1</cp:revision>
  <dc:title>STOICHIOMETRY PART 2</dc:title>
</cp:coreProperties>
</file>