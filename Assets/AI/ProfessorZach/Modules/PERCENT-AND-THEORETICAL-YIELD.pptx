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Fredoka" charset="1" panose="02000000000000000000"/>
      <p:regular r:id="rId26"/>
    </p:embeddedFont>
    <p:embeddedFont>
      <p:font typeface="Quicksand Bold"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00584" y="5759984"/>
            <a:ext cx="4979815" cy="5030116"/>
          </a:xfrm>
          <a:custGeom>
            <a:avLst/>
            <a:gdLst/>
            <a:ahLst/>
            <a:cxnLst/>
            <a:rect r="r" b="b" t="t" l="l"/>
            <a:pathLst>
              <a:path h="5030116" w="4979815">
                <a:moveTo>
                  <a:pt x="0" y="0"/>
                </a:moveTo>
                <a:lnTo>
                  <a:pt x="4979816" y="0"/>
                </a:lnTo>
                <a:lnTo>
                  <a:pt x="4979816" y="5030116"/>
                </a:lnTo>
                <a:lnTo>
                  <a:pt x="0" y="5030116"/>
                </a:lnTo>
                <a:lnTo>
                  <a:pt x="0" y="0"/>
                </a:lnTo>
                <a:close/>
              </a:path>
            </a:pathLst>
          </a:custGeom>
          <a:blipFill>
            <a:blip r:embed="rId4"/>
            <a:stretch>
              <a:fillRect l="0" t="0" r="0" b="0"/>
            </a:stretch>
          </a:blipFill>
        </p:spPr>
      </p:sp>
      <p:sp>
        <p:nvSpPr>
          <p:cNvPr name="Freeform 5" id="5"/>
          <p:cNvSpPr/>
          <p:nvPr/>
        </p:nvSpPr>
        <p:spPr>
          <a:xfrm flipH="true" flipV="false" rot="904299">
            <a:off x="13982075" y="5667511"/>
            <a:ext cx="5084685" cy="5215061"/>
          </a:xfrm>
          <a:custGeom>
            <a:avLst/>
            <a:gdLst/>
            <a:ahLst/>
            <a:cxnLst/>
            <a:rect r="r" b="b" t="t" l="l"/>
            <a:pathLst>
              <a:path h="5215061" w="5084685">
                <a:moveTo>
                  <a:pt x="5084685" y="0"/>
                </a:moveTo>
                <a:lnTo>
                  <a:pt x="0" y="0"/>
                </a:lnTo>
                <a:lnTo>
                  <a:pt x="0" y="5215062"/>
                </a:lnTo>
                <a:lnTo>
                  <a:pt x="5084685" y="5215062"/>
                </a:lnTo>
                <a:lnTo>
                  <a:pt x="5084685" y="0"/>
                </a:lnTo>
                <a:close/>
              </a:path>
            </a:pathLst>
          </a:custGeom>
          <a:blipFill>
            <a:blip r:embed="rId5"/>
            <a:stretch>
              <a:fillRect l="0" t="0" r="0" b="0"/>
            </a:stretch>
          </a:blipFill>
        </p:spPr>
      </p:sp>
      <p:sp>
        <p:nvSpPr>
          <p:cNvPr name="Freeform 6" id="6"/>
          <p:cNvSpPr/>
          <p:nvPr/>
        </p:nvSpPr>
        <p:spPr>
          <a:xfrm flipH="true" flipV="false" rot="-1372950">
            <a:off x="-873236" y="5904601"/>
            <a:ext cx="4925426" cy="4994095"/>
          </a:xfrm>
          <a:custGeom>
            <a:avLst/>
            <a:gdLst/>
            <a:ahLst/>
            <a:cxnLst/>
            <a:rect r="r" b="b" t="t" l="l"/>
            <a:pathLst>
              <a:path h="4994095" w="4925426">
                <a:moveTo>
                  <a:pt x="4925426" y="0"/>
                </a:moveTo>
                <a:lnTo>
                  <a:pt x="0" y="0"/>
                </a:lnTo>
                <a:lnTo>
                  <a:pt x="0" y="4994094"/>
                </a:lnTo>
                <a:lnTo>
                  <a:pt x="4925426" y="4994094"/>
                </a:lnTo>
                <a:lnTo>
                  <a:pt x="4925426" y="0"/>
                </a:lnTo>
                <a:close/>
              </a:path>
            </a:pathLst>
          </a:custGeom>
          <a:blipFill>
            <a:blip r:embed="rId6"/>
            <a:stretch>
              <a:fillRect l="0" t="0" r="0" b="0"/>
            </a:stretch>
          </a:blipFill>
        </p:spPr>
      </p:sp>
      <p:sp>
        <p:nvSpPr>
          <p:cNvPr name="Freeform 7" id="7"/>
          <p:cNvSpPr/>
          <p:nvPr/>
        </p:nvSpPr>
        <p:spPr>
          <a:xfrm flipH="false" flipV="false" rot="0">
            <a:off x="2346319" y="5759984"/>
            <a:ext cx="5914598" cy="5899812"/>
          </a:xfrm>
          <a:custGeom>
            <a:avLst/>
            <a:gdLst/>
            <a:ahLst/>
            <a:cxnLst/>
            <a:rect r="r" b="b" t="t" l="l"/>
            <a:pathLst>
              <a:path h="5899812" w="5914598">
                <a:moveTo>
                  <a:pt x="0" y="0"/>
                </a:moveTo>
                <a:lnTo>
                  <a:pt x="5914598" y="0"/>
                </a:lnTo>
                <a:lnTo>
                  <a:pt x="5914598" y="5899812"/>
                </a:lnTo>
                <a:lnTo>
                  <a:pt x="0" y="5899812"/>
                </a:lnTo>
                <a:lnTo>
                  <a:pt x="0" y="0"/>
                </a:lnTo>
                <a:close/>
              </a:path>
            </a:pathLst>
          </a:custGeom>
          <a:blipFill>
            <a:blip r:embed="rId7"/>
            <a:stretch>
              <a:fillRect l="0" t="0" r="0" b="0"/>
            </a:stretch>
          </a:blipFill>
        </p:spPr>
      </p:sp>
      <p:sp>
        <p:nvSpPr>
          <p:cNvPr name="Freeform 8" id="8"/>
          <p:cNvSpPr/>
          <p:nvPr/>
        </p:nvSpPr>
        <p:spPr>
          <a:xfrm flipH="false" flipV="false" rot="0">
            <a:off x="6540165" y="5759984"/>
            <a:ext cx="5136835" cy="5215061"/>
          </a:xfrm>
          <a:custGeom>
            <a:avLst/>
            <a:gdLst/>
            <a:ahLst/>
            <a:cxnLst/>
            <a:rect r="r" b="b" t="t" l="l"/>
            <a:pathLst>
              <a:path h="5215061" w="5136835">
                <a:moveTo>
                  <a:pt x="0" y="0"/>
                </a:moveTo>
                <a:lnTo>
                  <a:pt x="5136835" y="0"/>
                </a:lnTo>
                <a:lnTo>
                  <a:pt x="5136835" y="5215061"/>
                </a:lnTo>
                <a:lnTo>
                  <a:pt x="0" y="5215061"/>
                </a:lnTo>
                <a:lnTo>
                  <a:pt x="0" y="0"/>
                </a:lnTo>
                <a:close/>
              </a:path>
            </a:pathLst>
          </a:custGeom>
          <a:blipFill>
            <a:blip r:embed="rId8"/>
            <a:stretch>
              <a:fillRect l="0" t="0" r="0" b="0"/>
            </a:stretch>
          </a:blipFill>
        </p:spPr>
      </p:sp>
      <p:sp>
        <p:nvSpPr>
          <p:cNvPr name="TextBox 9" id="9"/>
          <p:cNvSpPr txBox="true"/>
          <p:nvPr/>
        </p:nvSpPr>
        <p:spPr>
          <a:xfrm rot="0">
            <a:off x="1727154" y="1346712"/>
            <a:ext cx="14833692" cy="3019425"/>
          </a:xfrm>
          <a:prstGeom prst="rect">
            <a:avLst/>
          </a:prstGeom>
        </p:spPr>
        <p:txBody>
          <a:bodyPr anchor="t" rtlCol="false" tIns="0" lIns="0" bIns="0" rIns="0">
            <a:spAutoFit/>
          </a:bodyPr>
          <a:lstStyle/>
          <a:p>
            <a:pPr algn="ctr">
              <a:lnSpc>
                <a:spcPts val="11999"/>
              </a:lnSpc>
            </a:pPr>
            <a:r>
              <a:rPr lang="en-US" sz="9999" spc="749">
                <a:solidFill>
                  <a:srgbClr val="046A7C"/>
                </a:solidFill>
                <a:latin typeface="Fredoka"/>
                <a:ea typeface="Fredoka"/>
                <a:cs typeface="Fredoka"/>
                <a:sym typeface="Fredoka"/>
              </a:rPr>
              <a:t>PERCENT AND THEORETICAL YIELD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31634" y="613547"/>
            <a:ext cx="17024731" cy="830305"/>
          </a:xfrm>
          <a:prstGeom prst="rect">
            <a:avLst/>
          </a:prstGeom>
        </p:spPr>
        <p:txBody>
          <a:bodyPr anchor="t" rtlCol="false" tIns="0" lIns="0" bIns="0" rIns="0">
            <a:spAutoFit/>
          </a:bodyPr>
          <a:lstStyle/>
          <a:p>
            <a:pPr algn="ctr">
              <a:lnSpc>
                <a:spcPts val="6537"/>
              </a:lnSpc>
            </a:pPr>
            <a:r>
              <a:rPr lang="en-US" sz="5448" spc="408">
                <a:solidFill>
                  <a:srgbClr val="046A7C"/>
                </a:solidFill>
                <a:latin typeface="Fredoka"/>
                <a:ea typeface="Fredoka"/>
                <a:cs typeface="Fredoka"/>
                <a:sym typeface="Fredoka"/>
              </a:rPr>
              <a:t>MOST ESSENTIAL LEARNING COMPETENCY</a:t>
            </a:r>
          </a:p>
        </p:txBody>
      </p:sp>
      <p:grpSp>
        <p:nvGrpSpPr>
          <p:cNvPr name="Group 5" id="5"/>
          <p:cNvGrpSpPr/>
          <p:nvPr/>
        </p:nvGrpSpPr>
        <p:grpSpPr>
          <a:xfrm rot="0">
            <a:off x="927452" y="4405440"/>
            <a:ext cx="1082010" cy="1082010"/>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6A7C"/>
            </a:solidFill>
          </p:spPr>
        </p:sp>
      </p:grpSp>
      <p:sp>
        <p:nvSpPr>
          <p:cNvPr name="TextBox 7" id="7"/>
          <p:cNvSpPr txBox="true"/>
          <p:nvPr/>
        </p:nvSpPr>
        <p:spPr>
          <a:xfrm rot="0">
            <a:off x="1158641" y="4606858"/>
            <a:ext cx="619632" cy="679174"/>
          </a:xfrm>
          <a:prstGeom prst="rect">
            <a:avLst/>
          </a:prstGeom>
        </p:spPr>
        <p:txBody>
          <a:bodyPr anchor="t" rtlCol="false" tIns="0" lIns="0" bIns="0" rIns="0">
            <a:spAutoFit/>
          </a:bodyPr>
          <a:lstStyle/>
          <a:p>
            <a:pPr algn="ctr" marL="0" indent="0" lvl="1">
              <a:lnSpc>
                <a:spcPts val="5400"/>
              </a:lnSpc>
            </a:pPr>
            <a:r>
              <a:rPr lang="en-US" b="true" sz="4500" u="none">
                <a:solidFill>
                  <a:srgbClr val="FFFFFF"/>
                </a:solidFill>
                <a:latin typeface="Quicksand Bold"/>
                <a:ea typeface="Quicksand Bold"/>
                <a:cs typeface="Quicksand Bold"/>
                <a:sym typeface="Quicksand Bold"/>
              </a:rPr>
              <a:t>1</a:t>
            </a:r>
          </a:p>
        </p:txBody>
      </p:sp>
      <p:sp>
        <p:nvSpPr>
          <p:cNvPr name="TextBox 8" id="8"/>
          <p:cNvSpPr txBox="true"/>
          <p:nvPr/>
        </p:nvSpPr>
        <p:spPr>
          <a:xfrm rot="0">
            <a:off x="2173759" y="3122781"/>
            <a:ext cx="15085541" cy="4031913"/>
          </a:xfrm>
          <a:prstGeom prst="rect">
            <a:avLst/>
          </a:prstGeom>
        </p:spPr>
        <p:txBody>
          <a:bodyPr anchor="t" rtlCol="false" tIns="0" lIns="0" bIns="0" rIns="0">
            <a:spAutoFit/>
          </a:bodyPr>
          <a:lstStyle/>
          <a:p>
            <a:pPr algn="ctr" marL="0" indent="0" lvl="0">
              <a:lnSpc>
                <a:spcPts val="10557"/>
              </a:lnSpc>
            </a:pPr>
            <a:r>
              <a:rPr lang="en-US" b="true" sz="8797">
                <a:solidFill>
                  <a:srgbClr val="FFFFFF"/>
                </a:solidFill>
                <a:latin typeface="Quicksand Bold"/>
                <a:ea typeface="Quicksand Bold"/>
                <a:cs typeface="Quicksand Bold"/>
                <a:sym typeface="Quicksand Bold"/>
              </a:rPr>
              <a:t>Calculate percent yield and theoretical yield of the reaction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26127" y="1985087"/>
            <a:ext cx="13056224" cy="4755959"/>
          </a:xfrm>
          <a:prstGeom prst="rect">
            <a:avLst/>
          </a:prstGeom>
        </p:spPr>
        <p:txBody>
          <a:bodyPr anchor="t" rtlCol="false" tIns="0" lIns="0" bIns="0" rIns="0">
            <a:spAutoFit/>
          </a:bodyPr>
          <a:lstStyle/>
          <a:p>
            <a:pPr algn="ctr">
              <a:lnSpc>
                <a:spcPts val="9380"/>
              </a:lnSpc>
              <a:spcBef>
                <a:spcPct val="0"/>
              </a:spcBef>
            </a:pPr>
            <a:r>
              <a:rPr lang="en-US" b="true" sz="7817">
                <a:solidFill>
                  <a:srgbClr val="FFFFFF"/>
                </a:solidFill>
                <a:latin typeface="Quicksand Bold"/>
                <a:ea typeface="Quicksand Bold"/>
                <a:cs typeface="Quicksand Bold"/>
                <a:sym typeface="Quicksand Bold"/>
              </a:rPr>
              <a:t>When chemical reactions takes place, they are almost never 100% complete.</a:t>
            </a:r>
          </a:p>
        </p:txBody>
      </p:sp>
      <p:sp>
        <p:nvSpPr>
          <p:cNvPr name="Freeform 5" id="5"/>
          <p:cNvSpPr/>
          <p:nvPr/>
        </p:nvSpPr>
        <p:spPr>
          <a:xfrm flipH="false" flipV="false" rot="-990963">
            <a:off x="13384834" y="1711545"/>
            <a:ext cx="6795271" cy="6863910"/>
          </a:xfrm>
          <a:custGeom>
            <a:avLst/>
            <a:gdLst/>
            <a:ahLst/>
            <a:cxnLst/>
            <a:rect r="r" b="b" t="t" l="l"/>
            <a:pathLst>
              <a:path h="6863910" w="6795271">
                <a:moveTo>
                  <a:pt x="0" y="0"/>
                </a:moveTo>
                <a:lnTo>
                  <a:pt x="6795271" y="0"/>
                </a:lnTo>
                <a:lnTo>
                  <a:pt x="6795271" y="6863910"/>
                </a:lnTo>
                <a:lnTo>
                  <a:pt x="0" y="6863910"/>
                </a:lnTo>
                <a:lnTo>
                  <a:pt x="0" y="0"/>
                </a:lnTo>
                <a:close/>
              </a:path>
            </a:pathLst>
          </a:custGeom>
          <a:blipFill>
            <a:blip r:embed="rId4"/>
            <a:stretch>
              <a:fillRect l="0" t="0" r="0" b="0"/>
            </a:stretch>
          </a:blipFill>
        </p:spPr>
      </p:sp>
      <p:sp>
        <p:nvSpPr>
          <p:cNvPr name="TextBox 6" id="6"/>
          <p:cNvSpPr txBox="true"/>
          <p:nvPr/>
        </p:nvSpPr>
        <p:spPr>
          <a:xfrm rot="0">
            <a:off x="5879295" y="8281009"/>
            <a:ext cx="2491765" cy="802279"/>
          </a:xfrm>
          <a:prstGeom prst="rect">
            <a:avLst/>
          </a:prstGeom>
        </p:spPr>
        <p:txBody>
          <a:bodyPr anchor="t" rtlCol="false" tIns="0" lIns="0" bIns="0" rIns="0">
            <a:spAutoFit/>
          </a:bodyPr>
          <a:lstStyle/>
          <a:p>
            <a:pPr algn="ctr">
              <a:lnSpc>
                <a:spcPts val="6317"/>
              </a:lnSpc>
              <a:spcBef>
                <a:spcPct val="0"/>
              </a:spcBef>
            </a:pPr>
            <a:r>
              <a:rPr lang="en-US" b="true" sz="5264">
                <a:solidFill>
                  <a:srgbClr val="FFFFFF"/>
                </a:solidFill>
                <a:latin typeface="Quicksand Bold"/>
                <a:ea typeface="Quicksand Bold"/>
                <a:cs typeface="Quicksand Bold"/>
                <a:sym typeface="Quicksand Bold"/>
              </a:rPr>
              <a:t>Why?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187793">
            <a:off x="-1753878" y="6158523"/>
            <a:ext cx="4393716" cy="4382732"/>
          </a:xfrm>
          <a:custGeom>
            <a:avLst/>
            <a:gdLst/>
            <a:ahLst/>
            <a:cxnLst/>
            <a:rect r="r" b="b" t="t" l="l"/>
            <a:pathLst>
              <a:path h="4382732" w="4393716">
                <a:moveTo>
                  <a:pt x="4393717" y="0"/>
                </a:moveTo>
                <a:lnTo>
                  <a:pt x="0" y="0"/>
                </a:lnTo>
                <a:lnTo>
                  <a:pt x="0" y="4382732"/>
                </a:lnTo>
                <a:lnTo>
                  <a:pt x="4393717" y="4382732"/>
                </a:lnTo>
                <a:lnTo>
                  <a:pt x="4393717" y="0"/>
                </a:lnTo>
                <a:close/>
              </a:path>
            </a:pathLst>
          </a:custGeom>
          <a:blipFill>
            <a:blip r:embed="rId4"/>
            <a:stretch>
              <a:fillRect l="0" t="0" r="0" b="0"/>
            </a:stretch>
          </a:blipFill>
        </p:spPr>
      </p:sp>
      <p:sp>
        <p:nvSpPr>
          <p:cNvPr name="TextBox 5" id="5"/>
          <p:cNvSpPr txBox="true"/>
          <p:nvPr/>
        </p:nvSpPr>
        <p:spPr>
          <a:xfrm rot="0">
            <a:off x="1477112" y="1208805"/>
            <a:ext cx="15333776" cy="7029450"/>
          </a:xfrm>
          <a:prstGeom prst="rect">
            <a:avLst/>
          </a:prstGeom>
        </p:spPr>
        <p:txBody>
          <a:bodyPr anchor="t" rtlCol="false" tIns="0" lIns="0" bIns="0" rIns="0">
            <a:spAutoFit/>
          </a:bodyPr>
          <a:lstStyle/>
          <a:p>
            <a:pPr algn="l" marL="1114379" indent="-557190" lvl="1">
              <a:lnSpc>
                <a:spcPts val="6193"/>
              </a:lnSpc>
              <a:buFont typeface="Arial"/>
              <a:buChar char="•"/>
            </a:pPr>
            <a:r>
              <a:rPr lang="en-US" b="true" sz="5161" u="sng">
                <a:solidFill>
                  <a:srgbClr val="FFFFFF"/>
                </a:solidFill>
                <a:latin typeface="Quicksand Bold"/>
                <a:ea typeface="Quicksand Bold"/>
                <a:cs typeface="Quicksand Bold"/>
                <a:sym typeface="Quicksand Bold"/>
              </a:rPr>
              <a:t>Incomplete reaction</a:t>
            </a:r>
            <a:r>
              <a:rPr lang="en-US" b="true" sz="5161">
                <a:solidFill>
                  <a:srgbClr val="FFFFFF"/>
                </a:solidFill>
                <a:latin typeface="Quicksand Bold"/>
                <a:ea typeface="Quicksand Bold"/>
                <a:cs typeface="Quicksand Bold"/>
                <a:sym typeface="Quicksand Bold"/>
              </a:rPr>
              <a:t> – Some molecules may not collide with enough energy or in the correct orientation to react, so a portion of the reactants remains.</a:t>
            </a:r>
          </a:p>
          <a:p>
            <a:pPr algn="l" marL="1114379" indent="-557190" lvl="1">
              <a:lnSpc>
                <a:spcPts val="6193"/>
              </a:lnSpc>
              <a:buFont typeface="Arial"/>
              <a:buChar char="•"/>
            </a:pPr>
            <a:r>
              <a:rPr lang="en-US" b="true" sz="5161" u="sng">
                <a:solidFill>
                  <a:srgbClr val="FFFFFF"/>
                </a:solidFill>
                <a:latin typeface="Quicksand Bold"/>
                <a:ea typeface="Quicksand Bold"/>
                <a:cs typeface="Quicksand Bold"/>
                <a:sym typeface="Quicksand Bold"/>
              </a:rPr>
              <a:t>Losses during the process</a:t>
            </a:r>
            <a:r>
              <a:rPr lang="en-US" b="true" sz="5161">
                <a:solidFill>
                  <a:srgbClr val="FFFFFF"/>
                </a:solidFill>
                <a:latin typeface="Quicksand Bold"/>
                <a:ea typeface="Quicksand Bold"/>
                <a:cs typeface="Quicksand Bold"/>
                <a:sym typeface="Quicksand Bold"/>
              </a:rPr>
              <a:t> – In real experiments, substances can stick to containers, evaporate, or spill, reducing the actual yield compared to the theoretical one.</a:t>
            </a:r>
          </a:p>
        </p:txBody>
      </p:sp>
      <p:sp>
        <p:nvSpPr>
          <p:cNvPr name="Freeform 6" id="6"/>
          <p:cNvSpPr/>
          <p:nvPr/>
        </p:nvSpPr>
        <p:spPr>
          <a:xfrm flipH="false" flipV="false" rot="-2230170">
            <a:off x="15585189" y="-1130313"/>
            <a:ext cx="4608063" cy="4678236"/>
          </a:xfrm>
          <a:custGeom>
            <a:avLst/>
            <a:gdLst/>
            <a:ahLst/>
            <a:cxnLst/>
            <a:rect r="r" b="b" t="t" l="l"/>
            <a:pathLst>
              <a:path h="4678236" w="4608063">
                <a:moveTo>
                  <a:pt x="0" y="0"/>
                </a:moveTo>
                <a:lnTo>
                  <a:pt x="4608063" y="0"/>
                </a:lnTo>
                <a:lnTo>
                  <a:pt x="4608063" y="4678236"/>
                </a:lnTo>
                <a:lnTo>
                  <a:pt x="0" y="4678236"/>
                </a:lnTo>
                <a:lnTo>
                  <a:pt x="0" y="0"/>
                </a:lnTo>
                <a:close/>
              </a:path>
            </a:pathLst>
          </a:custGeom>
          <a:blipFill>
            <a:blip r:embed="rId5"/>
            <a:stretch>
              <a:fillRect l="0" t="0" r="0" b="0"/>
            </a:stretch>
          </a:blipFill>
        </p:spPr>
      </p:sp>
    </p:spTree>
  </p:cSld>
  <p:clrMapOvr>
    <a:masterClrMapping/>
  </p:clrMapOvr>
  <p:transition spd="fast">
    <p:circl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806628" y="-3857600"/>
            <a:ext cx="19901255" cy="7715199"/>
            <a:chOff x="0" y="0"/>
            <a:chExt cx="26535007" cy="10286932"/>
          </a:xfrm>
        </p:grpSpPr>
        <p:sp>
          <p:nvSpPr>
            <p:cNvPr name="Freeform 5" id="5"/>
            <p:cNvSpPr/>
            <p:nvPr/>
          </p:nvSpPr>
          <p:spPr>
            <a:xfrm flipH="false" flipV="false" rot="0">
              <a:off x="0" y="0"/>
              <a:ext cx="9238250" cy="10286932"/>
            </a:xfrm>
            <a:custGeom>
              <a:avLst/>
              <a:gdLst/>
              <a:ahLst/>
              <a:cxnLst/>
              <a:rect r="r" b="b" t="t" l="l"/>
              <a:pathLst>
                <a:path h="10286932" w="9238250">
                  <a:moveTo>
                    <a:pt x="0" y="0"/>
                  </a:moveTo>
                  <a:lnTo>
                    <a:pt x="9238250" y="0"/>
                  </a:lnTo>
                  <a:lnTo>
                    <a:pt x="9238250" y="10286932"/>
                  </a:lnTo>
                  <a:lnTo>
                    <a:pt x="0" y="10286932"/>
                  </a:lnTo>
                  <a:lnTo>
                    <a:pt x="0" y="0"/>
                  </a:lnTo>
                  <a:close/>
                </a:path>
              </a:pathLst>
            </a:custGeom>
            <a:blipFill>
              <a:blip r:embed="rId4"/>
              <a:stretch>
                <a:fillRect l="0" t="-131" r="-11643" b="-131"/>
              </a:stretch>
            </a:blipFill>
          </p:spPr>
        </p:sp>
        <p:sp>
          <p:nvSpPr>
            <p:cNvPr name="Freeform 6" id="6"/>
            <p:cNvSpPr/>
            <p:nvPr/>
          </p:nvSpPr>
          <p:spPr>
            <a:xfrm flipH="false" flipV="false" rot="0">
              <a:off x="9238250" y="0"/>
              <a:ext cx="7989109" cy="10286932"/>
            </a:xfrm>
            <a:custGeom>
              <a:avLst/>
              <a:gdLst/>
              <a:ahLst/>
              <a:cxnLst/>
              <a:rect r="r" b="b" t="t" l="l"/>
              <a:pathLst>
                <a:path h="10286932" w="7989109">
                  <a:moveTo>
                    <a:pt x="0" y="0"/>
                  </a:moveTo>
                  <a:lnTo>
                    <a:pt x="7989110" y="0"/>
                  </a:lnTo>
                  <a:lnTo>
                    <a:pt x="7989110" y="10286932"/>
                  </a:lnTo>
                  <a:lnTo>
                    <a:pt x="0" y="10286932"/>
                  </a:lnTo>
                  <a:lnTo>
                    <a:pt x="0" y="0"/>
                  </a:lnTo>
                  <a:close/>
                </a:path>
              </a:pathLst>
            </a:custGeom>
            <a:blipFill>
              <a:blip r:embed="rId4"/>
              <a:stretch>
                <a:fillRect l="-14164" t="0" r="-14597" b="0"/>
              </a:stretch>
            </a:blipFill>
          </p:spPr>
        </p:sp>
        <p:sp>
          <p:nvSpPr>
            <p:cNvPr name="Freeform 7" id="7"/>
            <p:cNvSpPr/>
            <p:nvPr/>
          </p:nvSpPr>
          <p:spPr>
            <a:xfrm flipH="false" flipV="false" rot="0">
              <a:off x="17227360" y="0"/>
              <a:ext cx="9307647" cy="10286932"/>
            </a:xfrm>
            <a:custGeom>
              <a:avLst/>
              <a:gdLst/>
              <a:ahLst/>
              <a:cxnLst/>
              <a:rect r="r" b="b" t="t" l="l"/>
              <a:pathLst>
                <a:path h="10286932" w="9307647">
                  <a:moveTo>
                    <a:pt x="0" y="0"/>
                  </a:moveTo>
                  <a:lnTo>
                    <a:pt x="9307647" y="0"/>
                  </a:lnTo>
                  <a:lnTo>
                    <a:pt x="9307647" y="10286932"/>
                  </a:lnTo>
                  <a:lnTo>
                    <a:pt x="0" y="10286932"/>
                  </a:lnTo>
                  <a:lnTo>
                    <a:pt x="0" y="0"/>
                  </a:lnTo>
                  <a:close/>
                </a:path>
              </a:pathLst>
            </a:custGeom>
            <a:blipFill>
              <a:blip r:embed="rId4"/>
              <a:stretch>
                <a:fillRect l="-10811" t="-131" r="0" b="-131"/>
              </a:stretch>
            </a:blipFill>
          </p:spPr>
        </p:sp>
      </p:grpSp>
      <p:sp>
        <p:nvSpPr>
          <p:cNvPr name="Freeform 8" id="8"/>
          <p:cNvSpPr/>
          <p:nvPr/>
        </p:nvSpPr>
        <p:spPr>
          <a:xfrm flipH="false" flipV="false" rot="-665345">
            <a:off x="3036858" y="5097137"/>
            <a:ext cx="4213657" cy="3960838"/>
          </a:xfrm>
          <a:custGeom>
            <a:avLst/>
            <a:gdLst/>
            <a:ahLst/>
            <a:cxnLst/>
            <a:rect r="r" b="b" t="t" l="l"/>
            <a:pathLst>
              <a:path h="3960838" w="4213657">
                <a:moveTo>
                  <a:pt x="0" y="0"/>
                </a:moveTo>
                <a:lnTo>
                  <a:pt x="4213658" y="0"/>
                </a:lnTo>
                <a:lnTo>
                  <a:pt x="4213658" y="3960838"/>
                </a:lnTo>
                <a:lnTo>
                  <a:pt x="0" y="3960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372299" y="4054509"/>
            <a:ext cx="3762014" cy="6046094"/>
          </a:xfrm>
          <a:custGeom>
            <a:avLst/>
            <a:gdLst/>
            <a:ahLst/>
            <a:cxnLst/>
            <a:rect r="r" b="b" t="t" l="l"/>
            <a:pathLst>
              <a:path h="6046094" w="3762014">
                <a:moveTo>
                  <a:pt x="0" y="0"/>
                </a:moveTo>
                <a:lnTo>
                  <a:pt x="3762014" y="0"/>
                </a:lnTo>
                <a:lnTo>
                  <a:pt x="3762014" y="6046095"/>
                </a:lnTo>
                <a:lnTo>
                  <a:pt x="0" y="6046095"/>
                </a:lnTo>
                <a:lnTo>
                  <a:pt x="0" y="0"/>
                </a:lnTo>
                <a:close/>
              </a:path>
            </a:pathLst>
          </a:custGeom>
          <a:blipFill>
            <a:blip r:embed="rId7"/>
            <a:stretch>
              <a:fillRect l="0" t="0" r="0" b="0"/>
            </a:stretch>
          </a:blipFill>
        </p:spPr>
      </p:sp>
    </p:spTree>
  </p:cSld>
  <p:clrMapOvr>
    <a:masterClrMapping/>
  </p:clrMapOvr>
  <p:transition spd="fast">
    <p:circl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6952" y="1303110"/>
            <a:ext cx="17354096" cy="7671254"/>
          </a:xfrm>
          <a:prstGeom prst="rect">
            <a:avLst/>
          </a:prstGeom>
        </p:spPr>
        <p:txBody>
          <a:bodyPr anchor="t" rtlCol="false" tIns="0" lIns="0" bIns="0" rIns="0">
            <a:spAutoFit/>
          </a:bodyPr>
          <a:lstStyle/>
          <a:p>
            <a:pPr algn="ctr">
              <a:lnSpc>
                <a:spcPts val="10054"/>
              </a:lnSpc>
            </a:pPr>
            <a:r>
              <a:rPr lang="en-US" sz="8378" b="true">
                <a:solidFill>
                  <a:srgbClr val="FFFFFF"/>
                </a:solidFill>
                <a:latin typeface="Quicksand Bold"/>
                <a:ea typeface="Quicksand Bold"/>
                <a:cs typeface="Quicksand Bold"/>
                <a:sym typeface="Quicksand Bold"/>
              </a:rPr>
              <a:t>Percent yield is very important in the manufacturing of products.</a:t>
            </a:r>
          </a:p>
          <a:p>
            <a:pPr algn="ctr">
              <a:lnSpc>
                <a:spcPts val="10054"/>
              </a:lnSpc>
            </a:pPr>
          </a:p>
          <a:p>
            <a:pPr algn="ctr">
              <a:lnSpc>
                <a:spcPts val="10054"/>
              </a:lnSpc>
              <a:spcBef>
                <a:spcPct val="0"/>
              </a:spcBef>
            </a:pPr>
            <a:r>
              <a:rPr lang="en-US" b="true" sz="8378">
                <a:solidFill>
                  <a:srgbClr val="FFFFFF"/>
                </a:solidFill>
                <a:latin typeface="Quicksand Bold"/>
                <a:ea typeface="Quicksand Bold"/>
                <a:cs typeface="Quicksand Bold"/>
                <a:sym typeface="Quicksand Bold"/>
              </a:rPr>
              <a:t>Time and effort is spent in improving the percent yield for chemical production.</a:t>
            </a:r>
          </a:p>
        </p:txBody>
      </p:sp>
    </p:spTree>
  </p:cSld>
  <p:clrMapOvr>
    <a:masterClrMapping/>
  </p:clrMapOvr>
  <p:transition spd="fast">
    <p:circl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6952" y="1303110"/>
            <a:ext cx="17354096" cy="7671254"/>
          </a:xfrm>
          <a:prstGeom prst="rect">
            <a:avLst/>
          </a:prstGeom>
        </p:spPr>
        <p:txBody>
          <a:bodyPr anchor="t" rtlCol="false" tIns="0" lIns="0" bIns="0" rIns="0">
            <a:spAutoFit/>
          </a:bodyPr>
          <a:lstStyle/>
          <a:p>
            <a:pPr algn="ctr">
              <a:lnSpc>
                <a:spcPts val="10054"/>
              </a:lnSpc>
              <a:spcBef>
                <a:spcPct val="0"/>
              </a:spcBef>
            </a:pPr>
            <a:r>
              <a:rPr lang="en-US" b="true" sz="8378">
                <a:solidFill>
                  <a:srgbClr val="FFFFFF"/>
                </a:solidFill>
                <a:latin typeface="Quicksand Bold"/>
                <a:ea typeface="Quicksand Bold"/>
                <a:cs typeface="Quicksand Bold"/>
                <a:sym typeface="Quicksand Bold"/>
              </a:rPr>
              <a:t>When complex chemicals are synthesized by many different reactions, low percent yield means large waste of reactants that leads to negative effects on businesses.</a:t>
            </a:r>
          </a:p>
        </p:txBody>
      </p:sp>
    </p:spTree>
  </p:cSld>
  <p:clrMapOvr>
    <a:masterClrMapping/>
  </p:clrMapOvr>
  <p:transition spd="fast">
    <p:circl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04299">
            <a:off x="13859085" y="-2084117"/>
            <a:ext cx="5084685" cy="5215061"/>
          </a:xfrm>
          <a:custGeom>
            <a:avLst/>
            <a:gdLst/>
            <a:ahLst/>
            <a:cxnLst/>
            <a:rect r="r" b="b" t="t" l="l"/>
            <a:pathLst>
              <a:path h="5215061" w="5084685">
                <a:moveTo>
                  <a:pt x="5084685" y="0"/>
                </a:moveTo>
                <a:lnTo>
                  <a:pt x="0" y="0"/>
                </a:lnTo>
                <a:lnTo>
                  <a:pt x="0" y="5215061"/>
                </a:lnTo>
                <a:lnTo>
                  <a:pt x="5084685" y="5215061"/>
                </a:lnTo>
                <a:lnTo>
                  <a:pt x="5084685" y="0"/>
                </a:lnTo>
                <a:close/>
              </a:path>
            </a:pathLst>
          </a:custGeom>
          <a:blipFill>
            <a:blip r:embed="rId4"/>
            <a:stretch>
              <a:fillRect l="0" t="0" r="0" b="0"/>
            </a:stretch>
          </a:blipFill>
        </p:spPr>
      </p:sp>
      <p:sp>
        <p:nvSpPr>
          <p:cNvPr name="Freeform 5" id="5"/>
          <p:cNvSpPr/>
          <p:nvPr/>
        </p:nvSpPr>
        <p:spPr>
          <a:xfrm flipH="false" flipV="false" rot="559961">
            <a:off x="-1434013" y="6761253"/>
            <a:ext cx="4925426" cy="4994095"/>
          </a:xfrm>
          <a:custGeom>
            <a:avLst/>
            <a:gdLst/>
            <a:ahLst/>
            <a:cxnLst/>
            <a:rect r="r" b="b" t="t" l="l"/>
            <a:pathLst>
              <a:path h="4994095" w="4925426">
                <a:moveTo>
                  <a:pt x="0" y="0"/>
                </a:moveTo>
                <a:lnTo>
                  <a:pt x="4925426" y="0"/>
                </a:lnTo>
                <a:lnTo>
                  <a:pt x="4925426" y="4994094"/>
                </a:lnTo>
                <a:lnTo>
                  <a:pt x="0" y="4994094"/>
                </a:lnTo>
                <a:lnTo>
                  <a:pt x="0" y="0"/>
                </a:lnTo>
                <a:close/>
              </a:path>
            </a:pathLst>
          </a:custGeom>
          <a:blipFill>
            <a:blip r:embed="rId5"/>
            <a:stretch>
              <a:fillRect l="0" t="0" r="0" b="0"/>
            </a:stretch>
          </a:blipFill>
        </p:spPr>
      </p:sp>
      <p:sp>
        <p:nvSpPr>
          <p:cNvPr name="TextBox 6" id="6"/>
          <p:cNvSpPr txBox="true"/>
          <p:nvPr/>
        </p:nvSpPr>
        <p:spPr>
          <a:xfrm rot="0">
            <a:off x="1598453" y="665683"/>
            <a:ext cx="15091094" cy="8943975"/>
          </a:xfrm>
          <a:prstGeom prst="rect">
            <a:avLst/>
          </a:prstGeom>
        </p:spPr>
        <p:txBody>
          <a:bodyPr anchor="t" rtlCol="false" tIns="0" lIns="0" bIns="0" rIns="0">
            <a:spAutoFit/>
          </a:bodyPr>
          <a:lstStyle/>
          <a:p>
            <a:pPr algn="ctr">
              <a:lnSpc>
                <a:spcPts val="10052"/>
              </a:lnSpc>
              <a:spcBef>
                <a:spcPct val="0"/>
              </a:spcBef>
            </a:pPr>
            <a:r>
              <a:rPr lang="en-US" b="true" sz="8376">
                <a:solidFill>
                  <a:srgbClr val="FFFFFF"/>
                </a:solidFill>
                <a:latin typeface="Quicksand Bold"/>
                <a:ea typeface="Quicksand Bold"/>
                <a:cs typeface="Quicksand Bold"/>
                <a:sym typeface="Quicksand Bold"/>
              </a:rPr>
              <a:t>To compute the percent yield, it is first necessary to determine how much of the product should be formed based on stoichiometry which refers to </a:t>
            </a:r>
            <a:r>
              <a:rPr lang="en-US" b="true" sz="8376" u="sng">
                <a:solidFill>
                  <a:srgbClr val="FFFFFF"/>
                </a:solidFill>
                <a:latin typeface="Quicksand Bold"/>
                <a:ea typeface="Quicksand Bold"/>
                <a:cs typeface="Quicksand Bold"/>
                <a:sym typeface="Quicksand Bold"/>
              </a:rPr>
              <a:t>theoretical yield</a:t>
            </a:r>
            <a:r>
              <a:rPr lang="en-US" b="true" sz="8376">
                <a:solidFill>
                  <a:srgbClr val="FFFFFF"/>
                </a:solidFill>
                <a:latin typeface="Quicksand Bold"/>
                <a:ea typeface="Quicksand Bold"/>
                <a:cs typeface="Quicksand Bold"/>
                <a:sym typeface="Quicksand Bold"/>
              </a:rPr>
              <a:t>.</a:t>
            </a:r>
          </a:p>
        </p:txBody>
      </p:sp>
    </p:spTree>
  </p:cSld>
  <p:clrMapOvr>
    <a:masterClrMapping/>
  </p:clrMapOvr>
  <p:transition spd="fast">
    <p:circl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04299">
            <a:off x="13859085" y="-2084117"/>
            <a:ext cx="5084685" cy="5215061"/>
          </a:xfrm>
          <a:custGeom>
            <a:avLst/>
            <a:gdLst/>
            <a:ahLst/>
            <a:cxnLst/>
            <a:rect r="r" b="b" t="t" l="l"/>
            <a:pathLst>
              <a:path h="5215061" w="5084685">
                <a:moveTo>
                  <a:pt x="5084685" y="0"/>
                </a:moveTo>
                <a:lnTo>
                  <a:pt x="0" y="0"/>
                </a:lnTo>
                <a:lnTo>
                  <a:pt x="0" y="5215061"/>
                </a:lnTo>
                <a:lnTo>
                  <a:pt x="5084685" y="5215061"/>
                </a:lnTo>
                <a:lnTo>
                  <a:pt x="5084685" y="0"/>
                </a:lnTo>
                <a:close/>
              </a:path>
            </a:pathLst>
          </a:custGeom>
          <a:blipFill>
            <a:blip r:embed="rId4"/>
            <a:stretch>
              <a:fillRect l="0" t="0" r="0" b="0"/>
            </a:stretch>
          </a:blipFill>
        </p:spPr>
      </p:sp>
      <p:sp>
        <p:nvSpPr>
          <p:cNvPr name="Freeform 5" id="5"/>
          <p:cNvSpPr/>
          <p:nvPr/>
        </p:nvSpPr>
        <p:spPr>
          <a:xfrm flipH="false" flipV="false" rot="559961">
            <a:off x="-1434013" y="6761253"/>
            <a:ext cx="4925426" cy="4994095"/>
          </a:xfrm>
          <a:custGeom>
            <a:avLst/>
            <a:gdLst/>
            <a:ahLst/>
            <a:cxnLst/>
            <a:rect r="r" b="b" t="t" l="l"/>
            <a:pathLst>
              <a:path h="4994095" w="4925426">
                <a:moveTo>
                  <a:pt x="0" y="0"/>
                </a:moveTo>
                <a:lnTo>
                  <a:pt x="4925426" y="0"/>
                </a:lnTo>
                <a:lnTo>
                  <a:pt x="4925426" y="4994094"/>
                </a:lnTo>
                <a:lnTo>
                  <a:pt x="0" y="4994094"/>
                </a:lnTo>
                <a:lnTo>
                  <a:pt x="0" y="0"/>
                </a:lnTo>
                <a:close/>
              </a:path>
            </a:pathLst>
          </a:custGeom>
          <a:blipFill>
            <a:blip r:embed="rId5"/>
            <a:stretch>
              <a:fillRect l="0" t="0" r="0" b="0"/>
            </a:stretch>
          </a:blipFill>
        </p:spPr>
      </p:sp>
      <p:sp>
        <p:nvSpPr>
          <p:cNvPr name="TextBox 6" id="6"/>
          <p:cNvSpPr txBox="true"/>
          <p:nvPr/>
        </p:nvSpPr>
        <p:spPr>
          <a:xfrm rot="0">
            <a:off x="1708955" y="573024"/>
            <a:ext cx="14503908" cy="9086850"/>
          </a:xfrm>
          <a:prstGeom prst="rect">
            <a:avLst/>
          </a:prstGeom>
        </p:spPr>
        <p:txBody>
          <a:bodyPr anchor="t" rtlCol="false" tIns="0" lIns="0" bIns="0" rIns="0">
            <a:spAutoFit/>
          </a:bodyPr>
          <a:lstStyle/>
          <a:p>
            <a:pPr algn="ctr">
              <a:lnSpc>
                <a:spcPts val="11998"/>
              </a:lnSpc>
              <a:spcBef>
                <a:spcPct val="0"/>
              </a:spcBef>
            </a:pPr>
            <a:r>
              <a:rPr lang="en-US" b="true" sz="9999">
                <a:solidFill>
                  <a:srgbClr val="FFFFFF"/>
                </a:solidFill>
                <a:latin typeface="Quicksand Bold"/>
                <a:ea typeface="Quicksand Bold"/>
                <a:cs typeface="Quicksand Bold"/>
                <a:sym typeface="Quicksand Bold"/>
              </a:rPr>
              <a:t>The </a:t>
            </a:r>
            <a:r>
              <a:rPr lang="en-US" b="true" sz="9999" u="sng">
                <a:solidFill>
                  <a:srgbClr val="FFFFFF"/>
                </a:solidFill>
                <a:latin typeface="Quicksand Bold"/>
                <a:ea typeface="Quicksand Bold"/>
                <a:cs typeface="Quicksand Bold"/>
                <a:sym typeface="Quicksand Bold"/>
              </a:rPr>
              <a:t>actual yield</a:t>
            </a:r>
            <a:r>
              <a:rPr lang="en-US" b="true" sz="9999">
                <a:solidFill>
                  <a:srgbClr val="FFFFFF"/>
                </a:solidFill>
                <a:latin typeface="Quicksand Bold"/>
                <a:ea typeface="Quicksand Bold"/>
                <a:cs typeface="Quicksand Bold"/>
                <a:sym typeface="Quicksand Bold"/>
              </a:rPr>
              <a:t> is the actual product collected and measured or experimentally determined.</a:t>
            </a:r>
          </a:p>
        </p:txBody>
      </p:sp>
    </p:spTree>
  </p:cSld>
  <p:clrMapOvr>
    <a:masterClrMapping/>
  </p:clrMapOvr>
  <p:transition spd="fast">
    <p:circl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04299">
            <a:off x="13859085" y="-2084117"/>
            <a:ext cx="5084685" cy="5215061"/>
          </a:xfrm>
          <a:custGeom>
            <a:avLst/>
            <a:gdLst/>
            <a:ahLst/>
            <a:cxnLst/>
            <a:rect r="r" b="b" t="t" l="l"/>
            <a:pathLst>
              <a:path h="5215061" w="5084685">
                <a:moveTo>
                  <a:pt x="5084685" y="0"/>
                </a:moveTo>
                <a:lnTo>
                  <a:pt x="0" y="0"/>
                </a:lnTo>
                <a:lnTo>
                  <a:pt x="0" y="5215061"/>
                </a:lnTo>
                <a:lnTo>
                  <a:pt x="5084685" y="5215061"/>
                </a:lnTo>
                <a:lnTo>
                  <a:pt x="5084685" y="0"/>
                </a:lnTo>
                <a:close/>
              </a:path>
            </a:pathLst>
          </a:custGeom>
          <a:blipFill>
            <a:blip r:embed="rId4"/>
            <a:stretch>
              <a:fillRect l="0" t="0" r="0" b="0"/>
            </a:stretch>
          </a:blipFill>
        </p:spPr>
      </p:sp>
      <p:sp>
        <p:nvSpPr>
          <p:cNvPr name="Freeform 5" id="5"/>
          <p:cNvSpPr/>
          <p:nvPr/>
        </p:nvSpPr>
        <p:spPr>
          <a:xfrm flipH="false" flipV="false" rot="559961">
            <a:off x="-1434013" y="6761253"/>
            <a:ext cx="4925426" cy="4994095"/>
          </a:xfrm>
          <a:custGeom>
            <a:avLst/>
            <a:gdLst/>
            <a:ahLst/>
            <a:cxnLst/>
            <a:rect r="r" b="b" t="t" l="l"/>
            <a:pathLst>
              <a:path h="4994095" w="4925426">
                <a:moveTo>
                  <a:pt x="0" y="0"/>
                </a:moveTo>
                <a:lnTo>
                  <a:pt x="4925426" y="0"/>
                </a:lnTo>
                <a:lnTo>
                  <a:pt x="4925426" y="4994094"/>
                </a:lnTo>
                <a:lnTo>
                  <a:pt x="0" y="4994094"/>
                </a:lnTo>
                <a:lnTo>
                  <a:pt x="0" y="0"/>
                </a:lnTo>
                <a:close/>
              </a:path>
            </a:pathLst>
          </a:custGeom>
          <a:blipFill>
            <a:blip r:embed="rId5"/>
            <a:stretch>
              <a:fillRect l="0" t="0" r="0" b="0"/>
            </a:stretch>
          </a:blipFill>
        </p:spPr>
      </p:sp>
      <p:sp>
        <p:nvSpPr>
          <p:cNvPr name="TextBox 6" id="6"/>
          <p:cNvSpPr txBox="true"/>
          <p:nvPr/>
        </p:nvSpPr>
        <p:spPr>
          <a:xfrm rot="0">
            <a:off x="1368827" y="673376"/>
            <a:ext cx="15550345" cy="6057900"/>
          </a:xfrm>
          <a:prstGeom prst="rect">
            <a:avLst/>
          </a:prstGeom>
        </p:spPr>
        <p:txBody>
          <a:bodyPr anchor="t" rtlCol="false" tIns="0" lIns="0" bIns="0" rIns="0">
            <a:spAutoFit/>
          </a:bodyPr>
          <a:lstStyle/>
          <a:p>
            <a:pPr algn="ctr">
              <a:lnSpc>
                <a:spcPts val="11998"/>
              </a:lnSpc>
              <a:spcBef>
                <a:spcPct val="0"/>
              </a:spcBef>
            </a:pPr>
            <a:r>
              <a:rPr lang="en-US" b="true" sz="9999">
                <a:solidFill>
                  <a:srgbClr val="FFFFFF"/>
                </a:solidFill>
                <a:latin typeface="Quicksand Bold"/>
                <a:ea typeface="Quicksand Bold"/>
                <a:cs typeface="Quicksand Bold"/>
                <a:sym typeface="Quicksand Bold"/>
              </a:rPr>
              <a:t>The percent yield is a ratio of actual yield and theoretical yield which can be expressed as:</a:t>
            </a:r>
          </a:p>
        </p:txBody>
      </p:sp>
      <p:sp>
        <p:nvSpPr>
          <p:cNvPr name="TextBox 7" id="7"/>
          <p:cNvSpPr txBox="true"/>
          <p:nvPr/>
        </p:nvSpPr>
        <p:spPr>
          <a:xfrm rot="0">
            <a:off x="1749072" y="7256158"/>
            <a:ext cx="15170100" cy="915637"/>
          </a:xfrm>
          <a:prstGeom prst="rect">
            <a:avLst/>
          </a:prstGeom>
        </p:spPr>
        <p:txBody>
          <a:bodyPr anchor="t" rtlCol="false" tIns="0" lIns="0" bIns="0" rIns="0">
            <a:spAutoFit/>
          </a:bodyPr>
          <a:lstStyle/>
          <a:p>
            <a:pPr algn="ctr">
              <a:lnSpc>
                <a:spcPts val="7254"/>
              </a:lnSpc>
              <a:spcBef>
                <a:spcPct val="0"/>
              </a:spcBef>
            </a:pPr>
            <a:r>
              <a:rPr lang="en-US" b="true" sz="6045">
                <a:solidFill>
                  <a:srgbClr val="FFFFFF"/>
                </a:solidFill>
                <a:latin typeface="Quicksand Bold"/>
                <a:ea typeface="Quicksand Bold"/>
                <a:cs typeface="Quicksand Bold"/>
                <a:sym typeface="Quicksand Bold"/>
              </a:rPr>
              <a:t>Percent Yield = Actual Yield      x     100%</a:t>
            </a:r>
          </a:p>
        </p:txBody>
      </p:sp>
      <p:sp>
        <p:nvSpPr>
          <p:cNvPr name="AutoShape 8" id="8"/>
          <p:cNvSpPr/>
          <p:nvPr/>
        </p:nvSpPr>
        <p:spPr>
          <a:xfrm>
            <a:off x="7531626" y="8190845"/>
            <a:ext cx="4616238"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6447404" y="8171795"/>
            <a:ext cx="6821107" cy="915637"/>
          </a:xfrm>
          <a:prstGeom prst="rect">
            <a:avLst/>
          </a:prstGeom>
        </p:spPr>
        <p:txBody>
          <a:bodyPr anchor="t" rtlCol="false" tIns="0" lIns="0" bIns="0" rIns="0">
            <a:spAutoFit/>
          </a:bodyPr>
          <a:lstStyle/>
          <a:p>
            <a:pPr algn="ctr">
              <a:lnSpc>
                <a:spcPts val="7254"/>
              </a:lnSpc>
              <a:spcBef>
                <a:spcPct val="0"/>
              </a:spcBef>
            </a:pPr>
            <a:r>
              <a:rPr lang="en-US" b="true" sz="6045">
                <a:solidFill>
                  <a:srgbClr val="FFFFFF"/>
                </a:solidFill>
                <a:latin typeface="Quicksand Bold"/>
                <a:ea typeface="Quicksand Bold"/>
                <a:cs typeface="Quicksand Bold"/>
                <a:sym typeface="Quicksand Bold"/>
              </a:rPr>
              <a:t>Theoretical Yield</a:t>
            </a:r>
          </a:p>
        </p:txBody>
      </p:sp>
    </p:spTree>
  </p:cSld>
  <p:clrMapOvr>
    <a:masterClrMapping/>
  </p:clrMapOvr>
  <p:transition spd="fast">
    <p:circl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904299">
            <a:off x="13859085" y="-2084117"/>
            <a:ext cx="5084685" cy="5215061"/>
          </a:xfrm>
          <a:custGeom>
            <a:avLst/>
            <a:gdLst/>
            <a:ahLst/>
            <a:cxnLst/>
            <a:rect r="r" b="b" t="t" l="l"/>
            <a:pathLst>
              <a:path h="5215061" w="5084685">
                <a:moveTo>
                  <a:pt x="5084685" y="0"/>
                </a:moveTo>
                <a:lnTo>
                  <a:pt x="0" y="0"/>
                </a:lnTo>
                <a:lnTo>
                  <a:pt x="0" y="5215061"/>
                </a:lnTo>
                <a:lnTo>
                  <a:pt x="5084685" y="5215061"/>
                </a:lnTo>
                <a:lnTo>
                  <a:pt x="5084685" y="0"/>
                </a:lnTo>
                <a:close/>
              </a:path>
            </a:pathLst>
          </a:custGeom>
          <a:blipFill>
            <a:blip r:embed="rId4"/>
            <a:stretch>
              <a:fillRect l="0" t="0" r="0" b="0"/>
            </a:stretch>
          </a:blipFill>
        </p:spPr>
      </p:sp>
      <p:sp>
        <p:nvSpPr>
          <p:cNvPr name="Freeform 5" id="5"/>
          <p:cNvSpPr/>
          <p:nvPr/>
        </p:nvSpPr>
        <p:spPr>
          <a:xfrm flipH="false" flipV="false" rot="559961">
            <a:off x="-1434013" y="6761253"/>
            <a:ext cx="4925426" cy="4994095"/>
          </a:xfrm>
          <a:custGeom>
            <a:avLst/>
            <a:gdLst/>
            <a:ahLst/>
            <a:cxnLst/>
            <a:rect r="r" b="b" t="t" l="l"/>
            <a:pathLst>
              <a:path h="4994095" w="4925426">
                <a:moveTo>
                  <a:pt x="0" y="0"/>
                </a:moveTo>
                <a:lnTo>
                  <a:pt x="4925426" y="0"/>
                </a:lnTo>
                <a:lnTo>
                  <a:pt x="4925426" y="4994094"/>
                </a:lnTo>
                <a:lnTo>
                  <a:pt x="0" y="4994094"/>
                </a:lnTo>
                <a:lnTo>
                  <a:pt x="0" y="0"/>
                </a:lnTo>
                <a:close/>
              </a:path>
            </a:pathLst>
          </a:custGeom>
          <a:blipFill>
            <a:blip r:embed="rId5"/>
            <a:stretch>
              <a:fillRect l="0" t="0" r="0" b="0"/>
            </a:stretch>
          </a:blipFill>
        </p:spPr>
      </p:sp>
      <p:sp>
        <p:nvSpPr>
          <p:cNvPr name="Freeform 6" id="6"/>
          <p:cNvSpPr/>
          <p:nvPr/>
        </p:nvSpPr>
        <p:spPr>
          <a:xfrm flipH="false" flipV="false" rot="0">
            <a:off x="2781413" y="3211748"/>
            <a:ext cx="12123443" cy="1476171"/>
          </a:xfrm>
          <a:custGeom>
            <a:avLst/>
            <a:gdLst/>
            <a:ahLst/>
            <a:cxnLst/>
            <a:rect r="r" b="b" t="t" l="l"/>
            <a:pathLst>
              <a:path h="1476171" w="12123443">
                <a:moveTo>
                  <a:pt x="0" y="0"/>
                </a:moveTo>
                <a:lnTo>
                  <a:pt x="12123443" y="0"/>
                </a:lnTo>
                <a:lnTo>
                  <a:pt x="12123443" y="1476170"/>
                </a:lnTo>
                <a:lnTo>
                  <a:pt x="0" y="1476170"/>
                </a:lnTo>
                <a:lnTo>
                  <a:pt x="0" y="0"/>
                </a:lnTo>
                <a:close/>
              </a:path>
            </a:pathLst>
          </a:custGeom>
          <a:blipFill>
            <a:blip r:embed="rId6"/>
            <a:stretch>
              <a:fillRect l="0" t="0" r="0" b="0"/>
            </a:stretch>
          </a:blipFill>
        </p:spPr>
      </p:sp>
      <p:sp>
        <p:nvSpPr>
          <p:cNvPr name="Freeform 7" id="7"/>
          <p:cNvSpPr/>
          <p:nvPr/>
        </p:nvSpPr>
        <p:spPr>
          <a:xfrm flipH="false" flipV="false" rot="0">
            <a:off x="805125" y="5143500"/>
            <a:ext cx="16677750" cy="4227186"/>
          </a:xfrm>
          <a:custGeom>
            <a:avLst/>
            <a:gdLst/>
            <a:ahLst/>
            <a:cxnLst/>
            <a:rect r="r" b="b" t="t" l="l"/>
            <a:pathLst>
              <a:path h="4227186" w="16677750">
                <a:moveTo>
                  <a:pt x="0" y="0"/>
                </a:moveTo>
                <a:lnTo>
                  <a:pt x="16677750" y="0"/>
                </a:lnTo>
                <a:lnTo>
                  <a:pt x="16677750" y="4227186"/>
                </a:lnTo>
                <a:lnTo>
                  <a:pt x="0" y="4227186"/>
                </a:lnTo>
                <a:lnTo>
                  <a:pt x="0" y="0"/>
                </a:lnTo>
                <a:close/>
              </a:path>
            </a:pathLst>
          </a:custGeom>
          <a:blipFill>
            <a:blip r:embed="rId7"/>
            <a:stretch>
              <a:fillRect l="0" t="0" r="0" b="0"/>
            </a:stretch>
          </a:blipFill>
        </p:spPr>
      </p:sp>
      <p:sp>
        <p:nvSpPr>
          <p:cNvPr name="TextBox 8" id="8"/>
          <p:cNvSpPr txBox="true"/>
          <p:nvPr/>
        </p:nvSpPr>
        <p:spPr>
          <a:xfrm rot="0">
            <a:off x="0" y="523414"/>
            <a:ext cx="15886952" cy="2389436"/>
          </a:xfrm>
          <a:prstGeom prst="rect">
            <a:avLst/>
          </a:prstGeom>
        </p:spPr>
        <p:txBody>
          <a:bodyPr anchor="t" rtlCol="false" tIns="0" lIns="0" bIns="0" rIns="0">
            <a:spAutoFit/>
          </a:bodyPr>
          <a:lstStyle/>
          <a:p>
            <a:pPr algn="ctr">
              <a:lnSpc>
                <a:spcPts val="6310"/>
              </a:lnSpc>
              <a:spcBef>
                <a:spcPct val="0"/>
              </a:spcBef>
            </a:pPr>
            <a:r>
              <a:rPr lang="en-US" b="true" sz="5258">
                <a:solidFill>
                  <a:srgbClr val="FFFFFF"/>
                </a:solidFill>
                <a:latin typeface="Quicksand Bold"/>
                <a:ea typeface="Quicksand Bold"/>
                <a:cs typeface="Quicksand Bold"/>
                <a:sym typeface="Quicksand Bold"/>
              </a:rPr>
              <a:t>Potassium chlorate decomposes upon slight heating in the presence of a catalyst according to the reaction below:</a:t>
            </a:r>
          </a:p>
        </p:txBody>
      </p:sp>
    </p:spTree>
  </p:cSld>
  <p:clrMapOvr>
    <a:masterClrMapping/>
  </p:clrMapOvr>
  <p:transition spd="fast">
    <p:circl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59576" y="6930027"/>
            <a:ext cx="5866515" cy="4656547"/>
          </a:xfrm>
          <a:custGeom>
            <a:avLst/>
            <a:gdLst/>
            <a:ahLst/>
            <a:cxnLst/>
            <a:rect r="r" b="b" t="t" l="l"/>
            <a:pathLst>
              <a:path h="4656547" w="5866515">
                <a:moveTo>
                  <a:pt x="0" y="0"/>
                </a:moveTo>
                <a:lnTo>
                  <a:pt x="5866515" y="0"/>
                </a:lnTo>
                <a:lnTo>
                  <a:pt x="5866515" y="4656546"/>
                </a:lnTo>
                <a:lnTo>
                  <a:pt x="0" y="4656546"/>
                </a:lnTo>
                <a:lnTo>
                  <a:pt x="0" y="0"/>
                </a:lnTo>
                <a:close/>
              </a:path>
            </a:pathLst>
          </a:custGeom>
          <a:blipFill>
            <a:blip r:embed="rId4"/>
            <a:stretch>
              <a:fillRect l="0" t="0" r="0" b="0"/>
            </a:stretch>
          </a:blipFill>
        </p:spPr>
      </p:sp>
      <p:sp>
        <p:nvSpPr>
          <p:cNvPr name="Freeform 5" id="5"/>
          <p:cNvSpPr/>
          <p:nvPr/>
        </p:nvSpPr>
        <p:spPr>
          <a:xfrm flipH="true" flipV="false" rot="0">
            <a:off x="15161310" y="-1662071"/>
            <a:ext cx="5310053" cy="5316699"/>
          </a:xfrm>
          <a:custGeom>
            <a:avLst/>
            <a:gdLst/>
            <a:ahLst/>
            <a:cxnLst/>
            <a:rect r="r" b="b" t="t" l="l"/>
            <a:pathLst>
              <a:path h="5316699" w="5310053">
                <a:moveTo>
                  <a:pt x="5310052" y="0"/>
                </a:moveTo>
                <a:lnTo>
                  <a:pt x="0" y="0"/>
                </a:lnTo>
                <a:lnTo>
                  <a:pt x="0" y="5316699"/>
                </a:lnTo>
                <a:lnTo>
                  <a:pt x="5310052" y="5316699"/>
                </a:lnTo>
                <a:lnTo>
                  <a:pt x="5310052" y="0"/>
                </a:lnTo>
                <a:close/>
              </a:path>
            </a:pathLst>
          </a:custGeom>
          <a:blipFill>
            <a:blip r:embed="rId5"/>
            <a:stretch>
              <a:fillRect l="0" t="0" r="0" b="0"/>
            </a:stretch>
          </a:blipFill>
        </p:spPr>
      </p:sp>
      <p:sp>
        <p:nvSpPr>
          <p:cNvPr name="TextBox 6" id="6"/>
          <p:cNvSpPr txBox="true"/>
          <p:nvPr/>
        </p:nvSpPr>
        <p:spPr>
          <a:xfrm rot="0">
            <a:off x="-259872" y="1586567"/>
            <a:ext cx="12082956" cy="1447800"/>
          </a:xfrm>
          <a:prstGeom prst="rect">
            <a:avLst/>
          </a:prstGeom>
        </p:spPr>
        <p:txBody>
          <a:bodyPr anchor="t" rtlCol="false" tIns="0" lIns="0" bIns="0" rIns="0">
            <a:spAutoFit/>
          </a:bodyPr>
          <a:lstStyle/>
          <a:p>
            <a:pPr algn="ctr">
              <a:lnSpc>
                <a:spcPts val="11400"/>
              </a:lnSpc>
            </a:pPr>
            <a:r>
              <a:rPr lang="en-US" sz="9500" spc="712">
                <a:solidFill>
                  <a:srgbClr val="046A7C"/>
                </a:solidFill>
                <a:latin typeface="Fredoka"/>
                <a:ea typeface="Fredoka"/>
                <a:cs typeface="Fredoka"/>
                <a:sym typeface="Fredoka"/>
              </a:rPr>
              <a:t>ACTUAL YIELD</a:t>
            </a:r>
          </a:p>
        </p:txBody>
      </p:sp>
      <p:sp>
        <p:nvSpPr>
          <p:cNvPr name="TextBox 7" id="7"/>
          <p:cNvSpPr txBox="true"/>
          <p:nvPr/>
        </p:nvSpPr>
        <p:spPr>
          <a:xfrm rot="0">
            <a:off x="3406939" y="3338640"/>
            <a:ext cx="4368845" cy="1061665"/>
          </a:xfrm>
          <a:prstGeom prst="rect">
            <a:avLst/>
          </a:prstGeom>
        </p:spPr>
        <p:txBody>
          <a:bodyPr anchor="t" rtlCol="false" tIns="0" lIns="0" bIns="0" rIns="0">
            <a:spAutoFit/>
          </a:bodyPr>
          <a:lstStyle/>
          <a:p>
            <a:pPr algn="ctr">
              <a:lnSpc>
                <a:spcPts val="8359"/>
              </a:lnSpc>
              <a:spcBef>
                <a:spcPct val="0"/>
              </a:spcBef>
            </a:pPr>
            <a:r>
              <a:rPr lang="en-US" b="true" sz="6966">
                <a:solidFill>
                  <a:srgbClr val="FFFFFF"/>
                </a:solidFill>
                <a:latin typeface="Quicksand Bold"/>
                <a:ea typeface="Quicksand Bold"/>
                <a:cs typeface="Quicksand Bold"/>
                <a:sym typeface="Quicksand Bold"/>
              </a:rPr>
              <a:t>10.50 g</a:t>
            </a:r>
          </a:p>
        </p:txBody>
      </p:sp>
      <p:sp>
        <p:nvSpPr>
          <p:cNvPr name="TextBox 8" id="8"/>
          <p:cNvSpPr txBox="true"/>
          <p:nvPr/>
        </p:nvSpPr>
        <p:spPr>
          <a:xfrm rot="0">
            <a:off x="5733380" y="5728247"/>
            <a:ext cx="12082956" cy="1447800"/>
          </a:xfrm>
          <a:prstGeom prst="rect">
            <a:avLst/>
          </a:prstGeom>
        </p:spPr>
        <p:txBody>
          <a:bodyPr anchor="t" rtlCol="false" tIns="0" lIns="0" bIns="0" rIns="0">
            <a:spAutoFit/>
          </a:bodyPr>
          <a:lstStyle/>
          <a:p>
            <a:pPr algn="ctr">
              <a:lnSpc>
                <a:spcPts val="11400"/>
              </a:lnSpc>
            </a:pPr>
            <a:r>
              <a:rPr lang="en-US" sz="9500" spc="712">
                <a:solidFill>
                  <a:srgbClr val="046A7C"/>
                </a:solidFill>
                <a:latin typeface="Fredoka"/>
                <a:ea typeface="Fredoka"/>
                <a:cs typeface="Fredoka"/>
                <a:sym typeface="Fredoka"/>
              </a:rPr>
              <a:t>STARTING POINT</a:t>
            </a:r>
          </a:p>
        </p:txBody>
      </p:sp>
      <p:sp>
        <p:nvSpPr>
          <p:cNvPr name="TextBox 9" id="9"/>
          <p:cNvSpPr txBox="true"/>
          <p:nvPr/>
        </p:nvSpPr>
        <p:spPr>
          <a:xfrm rot="0">
            <a:off x="9590435" y="7176047"/>
            <a:ext cx="5907567" cy="1061665"/>
          </a:xfrm>
          <a:prstGeom prst="rect">
            <a:avLst/>
          </a:prstGeom>
        </p:spPr>
        <p:txBody>
          <a:bodyPr anchor="t" rtlCol="false" tIns="0" lIns="0" bIns="0" rIns="0">
            <a:spAutoFit/>
          </a:bodyPr>
          <a:lstStyle/>
          <a:p>
            <a:pPr algn="ctr">
              <a:lnSpc>
                <a:spcPts val="8359"/>
              </a:lnSpc>
              <a:spcBef>
                <a:spcPct val="0"/>
              </a:spcBef>
            </a:pPr>
            <a:r>
              <a:rPr lang="en-US" b="true" sz="6966">
                <a:solidFill>
                  <a:srgbClr val="FFFFFF"/>
                </a:solidFill>
                <a:latin typeface="Quicksand Bold"/>
                <a:ea typeface="Quicksand Bold"/>
                <a:cs typeface="Quicksand Bold"/>
                <a:sym typeface="Quicksand Bold"/>
              </a:rPr>
              <a:t>30.0 g KClO</a:t>
            </a:r>
          </a:p>
        </p:txBody>
      </p:sp>
      <p:sp>
        <p:nvSpPr>
          <p:cNvPr name="TextBox 10" id="10"/>
          <p:cNvSpPr txBox="true"/>
          <p:nvPr/>
        </p:nvSpPr>
        <p:spPr>
          <a:xfrm rot="0">
            <a:off x="14732380" y="7716405"/>
            <a:ext cx="857860" cy="783180"/>
          </a:xfrm>
          <a:prstGeom prst="rect">
            <a:avLst/>
          </a:prstGeom>
        </p:spPr>
        <p:txBody>
          <a:bodyPr anchor="t" rtlCol="false" tIns="0" lIns="0" bIns="0" rIns="0">
            <a:spAutoFit/>
          </a:bodyPr>
          <a:lstStyle/>
          <a:p>
            <a:pPr algn="ctr">
              <a:lnSpc>
                <a:spcPts val="6241"/>
              </a:lnSpc>
              <a:spcBef>
                <a:spcPct val="0"/>
              </a:spcBef>
            </a:pPr>
            <a:r>
              <a:rPr lang="en-US" b="true" sz="5201">
                <a:solidFill>
                  <a:srgbClr val="FFFFFF"/>
                </a:solidFill>
                <a:latin typeface="Quicksand Bold"/>
                <a:ea typeface="Quicksand Bold"/>
                <a:cs typeface="Quicksand Bold"/>
                <a:sym typeface="Quicksand Bold"/>
              </a:rPr>
              <a:t>3</a:t>
            </a:r>
          </a:p>
        </p:txBody>
      </p:sp>
    </p:spTree>
  </p:cSld>
  <p:clrMapOvr>
    <a:masterClrMapping/>
  </p:clrMapOvr>
  <p:transition spd="fast">
    <p:circle/>
  </p:transition>
</p:sld>
</file>

<file path=ppt/slides/slide13.xml><?xml version="1.0" encoding="utf-8"?>
<p:sld xmlns:p="http://schemas.openxmlformats.org/presentationml/2006/main" xmlns:a="http://schemas.openxmlformats.org/drawingml/2006/main">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3430445" y="434997"/>
            <a:ext cx="11427109" cy="1196930"/>
          </a:xfrm>
          <a:prstGeom prst="rect">
            <a:avLst/>
          </a:prstGeom>
        </p:spPr>
        <p:txBody>
          <a:bodyPr anchor="t" rtlCol="false" tIns="0" lIns="0" bIns="0" rIns="0">
            <a:spAutoFit/>
          </a:bodyPr>
          <a:lstStyle/>
          <a:p>
            <a:pPr algn="ctr">
              <a:lnSpc>
                <a:spcPts val="9499"/>
              </a:lnSpc>
              <a:spcBef>
                <a:spcPct val="0"/>
              </a:spcBef>
            </a:pPr>
            <a:r>
              <a:rPr lang="en-US" b="true" sz="7916">
                <a:solidFill>
                  <a:srgbClr val="FFFFFF"/>
                </a:solidFill>
                <a:latin typeface="Quicksand Bold"/>
                <a:ea typeface="Quicksand Bold"/>
                <a:cs typeface="Quicksand Bold"/>
                <a:sym typeface="Quicksand Bold"/>
              </a:rPr>
              <a:t>SAMPLE PROBLEM 1</a:t>
            </a:r>
          </a:p>
        </p:txBody>
      </p:sp>
      <p:sp>
        <p:nvSpPr>
          <p:cNvPr name="TextBox 3" id="3"/>
          <p:cNvSpPr txBox="true"/>
          <p:nvPr/>
        </p:nvSpPr>
        <p:spPr>
          <a:xfrm rot="0">
            <a:off x="0" y="2499117"/>
            <a:ext cx="18063667" cy="5482518"/>
          </a:xfrm>
          <a:prstGeom prst="rect">
            <a:avLst/>
          </a:prstGeom>
        </p:spPr>
        <p:txBody>
          <a:bodyPr anchor="t" rtlCol="false" tIns="0" lIns="0" bIns="0" rIns="0">
            <a:spAutoFit/>
          </a:bodyPr>
          <a:lstStyle/>
          <a:p>
            <a:pPr algn="ctr">
              <a:lnSpc>
                <a:spcPts val="7194"/>
              </a:lnSpc>
              <a:spcBef>
                <a:spcPct val="0"/>
              </a:spcBef>
            </a:pPr>
            <a:r>
              <a:rPr lang="en-US" b="true" sz="5995">
                <a:solidFill>
                  <a:srgbClr val="FFFFFF"/>
                </a:solidFill>
                <a:latin typeface="Quicksand Bold"/>
                <a:ea typeface="Quicksand Bold"/>
                <a:cs typeface="Quicksand Bold"/>
                <a:sym typeface="Quicksand Bold"/>
              </a:rPr>
              <a:t>In a certain experiment, 30.00 g KClO  is heated until it completely decomposes. What is the theoretical yield of oxygen? The experiment is performed and the oxygen gas is collected and its mass is found to be 10.50 g. What is the percent yield for the reaction?</a:t>
            </a:r>
          </a:p>
        </p:txBody>
      </p:sp>
      <p:sp>
        <p:nvSpPr>
          <p:cNvPr name="TextBox 4" id="4"/>
          <p:cNvSpPr txBox="true"/>
          <p:nvPr/>
        </p:nvSpPr>
        <p:spPr>
          <a:xfrm rot="0">
            <a:off x="13790908" y="2946723"/>
            <a:ext cx="629826" cy="656745"/>
          </a:xfrm>
          <a:prstGeom prst="rect">
            <a:avLst/>
          </a:prstGeom>
        </p:spPr>
        <p:txBody>
          <a:bodyPr anchor="t" rtlCol="false" tIns="0" lIns="0" bIns="0" rIns="0">
            <a:spAutoFit/>
          </a:bodyPr>
          <a:lstStyle/>
          <a:p>
            <a:pPr algn="ctr">
              <a:lnSpc>
                <a:spcPts val="5171"/>
              </a:lnSpc>
              <a:spcBef>
                <a:spcPct val="0"/>
              </a:spcBef>
            </a:pPr>
            <a:r>
              <a:rPr lang="en-US" b="true" sz="4309">
                <a:solidFill>
                  <a:srgbClr val="FFFFFF"/>
                </a:solidFill>
                <a:latin typeface="Quicksand Bold"/>
                <a:ea typeface="Quicksand Bold"/>
                <a:cs typeface="Quicksand Bold"/>
                <a:sym typeface="Quicksand Bold"/>
              </a:rPr>
              <a:t>3</a:t>
            </a:r>
          </a:p>
        </p:txBody>
      </p:sp>
    </p:spTree>
  </p:cSld>
  <p:clrMapOvr>
    <a:masterClrMapping/>
  </p:clrMapOvr>
  <p:transition spd="fast">
    <p:circl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315329" y="4734130"/>
            <a:ext cx="7739173"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30.00 g KClO    x      1 mol KClO</a:t>
            </a:r>
          </a:p>
        </p:txBody>
      </p:sp>
      <p:sp>
        <p:nvSpPr>
          <p:cNvPr name="TextBox 3" id="3"/>
          <p:cNvSpPr txBox="true"/>
          <p:nvPr/>
        </p:nvSpPr>
        <p:spPr>
          <a:xfrm rot="0">
            <a:off x="3525876" y="5039281"/>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3</a:t>
            </a:r>
          </a:p>
        </p:txBody>
      </p:sp>
      <p:sp>
        <p:nvSpPr>
          <p:cNvPr name="AutoShape 4" id="4"/>
          <p:cNvSpPr/>
          <p:nvPr/>
        </p:nvSpPr>
        <p:spPr>
          <a:xfrm flipV="true">
            <a:off x="5082390" y="5334907"/>
            <a:ext cx="2683728" cy="14712"/>
          </a:xfrm>
          <a:prstGeom prst="line">
            <a:avLst/>
          </a:prstGeom>
          <a:ln cap="flat" w="28575">
            <a:solidFill>
              <a:srgbClr val="FFFFFF"/>
            </a:solidFill>
            <a:prstDash val="solid"/>
            <a:headEnd type="none" len="sm" w="sm"/>
            <a:tailEnd type="none" len="sm" w="sm"/>
          </a:ln>
        </p:spPr>
      </p:sp>
      <p:sp>
        <p:nvSpPr>
          <p:cNvPr name="TextBox 5" id="5"/>
          <p:cNvSpPr txBox="true"/>
          <p:nvPr/>
        </p:nvSpPr>
        <p:spPr>
          <a:xfrm rot="0">
            <a:off x="5287111" y="5478396"/>
            <a:ext cx="2649364"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122 g KClO</a:t>
            </a:r>
          </a:p>
        </p:txBody>
      </p:sp>
      <p:sp>
        <p:nvSpPr>
          <p:cNvPr name="AutoShape 6" id="6"/>
          <p:cNvSpPr/>
          <p:nvPr/>
        </p:nvSpPr>
        <p:spPr>
          <a:xfrm flipV="true">
            <a:off x="6324153" y="5633963"/>
            <a:ext cx="1608513" cy="431000"/>
          </a:xfrm>
          <a:prstGeom prst="line">
            <a:avLst/>
          </a:prstGeom>
          <a:ln cap="flat" w="28575">
            <a:solidFill>
              <a:srgbClr val="FFFFFF"/>
            </a:solidFill>
            <a:prstDash val="solid"/>
            <a:headEnd type="none" len="sm" w="sm"/>
            <a:tailEnd type="none" len="sm" w="sm"/>
          </a:ln>
        </p:spPr>
      </p:sp>
      <p:sp>
        <p:nvSpPr>
          <p:cNvPr name="AutoShape 7" id="7"/>
          <p:cNvSpPr/>
          <p:nvPr/>
        </p:nvSpPr>
        <p:spPr>
          <a:xfrm flipV="true">
            <a:off x="2384250" y="4890106"/>
            <a:ext cx="1608513" cy="431000"/>
          </a:xfrm>
          <a:prstGeom prst="line">
            <a:avLst/>
          </a:prstGeom>
          <a:ln cap="flat" w="28575">
            <a:solidFill>
              <a:srgbClr val="FFFFFF"/>
            </a:solidFill>
            <a:prstDash val="solid"/>
            <a:headEnd type="none" len="sm" w="sm"/>
            <a:tailEnd type="none" len="sm" w="sm"/>
          </a:ln>
        </p:spPr>
      </p:sp>
      <p:sp>
        <p:nvSpPr>
          <p:cNvPr name="Freeform 8" id="8"/>
          <p:cNvSpPr/>
          <p:nvPr/>
        </p:nvSpPr>
        <p:spPr>
          <a:xfrm flipH="false" flipV="false" rot="0">
            <a:off x="315329" y="2093517"/>
            <a:ext cx="17708149" cy="1518264"/>
          </a:xfrm>
          <a:custGeom>
            <a:avLst/>
            <a:gdLst/>
            <a:ahLst/>
            <a:cxnLst/>
            <a:rect r="r" b="b" t="t" l="l"/>
            <a:pathLst>
              <a:path h="1518264" w="17708149">
                <a:moveTo>
                  <a:pt x="0" y="0"/>
                </a:moveTo>
                <a:lnTo>
                  <a:pt x="17708149" y="0"/>
                </a:lnTo>
                <a:lnTo>
                  <a:pt x="17708149" y="1518265"/>
                </a:lnTo>
                <a:lnTo>
                  <a:pt x="0" y="1518265"/>
                </a:lnTo>
                <a:lnTo>
                  <a:pt x="0" y="0"/>
                </a:lnTo>
                <a:close/>
              </a:path>
            </a:pathLst>
          </a:custGeom>
          <a:blipFill>
            <a:blip r:embed="rId2"/>
            <a:stretch>
              <a:fillRect l="0" t="-573" r="0" b="-573"/>
            </a:stretch>
          </a:blipFill>
        </p:spPr>
      </p:sp>
      <p:sp>
        <p:nvSpPr>
          <p:cNvPr name="TextBox 9" id="9"/>
          <p:cNvSpPr txBox="true"/>
          <p:nvPr/>
        </p:nvSpPr>
        <p:spPr>
          <a:xfrm rot="0">
            <a:off x="9421937" y="4763554"/>
            <a:ext cx="227005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3 mol O</a:t>
            </a:r>
          </a:p>
        </p:txBody>
      </p:sp>
      <p:sp>
        <p:nvSpPr>
          <p:cNvPr name="AutoShape 10" id="10"/>
          <p:cNvSpPr/>
          <p:nvPr/>
        </p:nvSpPr>
        <p:spPr>
          <a:xfrm>
            <a:off x="9421937" y="5364332"/>
            <a:ext cx="2124485" cy="0"/>
          </a:xfrm>
          <a:prstGeom prst="line">
            <a:avLst/>
          </a:prstGeom>
          <a:ln cap="flat" w="28575">
            <a:solidFill>
              <a:srgbClr val="FFFFFF"/>
            </a:solidFill>
            <a:prstDash val="solid"/>
            <a:headEnd type="none" len="sm" w="sm"/>
            <a:tailEnd type="none" len="sm" w="sm"/>
          </a:ln>
        </p:spPr>
      </p:sp>
      <p:sp>
        <p:nvSpPr>
          <p:cNvPr name="TextBox 11" id="11"/>
          <p:cNvSpPr txBox="true"/>
          <p:nvPr/>
        </p:nvSpPr>
        <p:spPr>
          <a:xfrm rot="0">
            <a:off x="9154190" y="5392380"/>
            <a:ext cx="281020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2 mol KClO</a:t>
            </a:r>
          </a:p>
        </p:txBody>
      </p:sp>
      <p:sp>
        <p:nvSpPr>
          <p:cNvPr name="TextBox 12" id="12"/>
          <p:cNvSpPr txBox="true"/>
          <p:nvPr/>
        </p:nvSpPr>
        <p:spPr>
          <a:xfrm rot="0">
            <a:off x="13047341" y="4783630"/>
            <a:ext cx="227005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32 g O</a:t>
            </a:r>
          </a:p>
        </p:txBody>
      </p:sp>
      <p:sp>
        <p:nvSpPr>
          <p:cNvPr name="AutoShape 13" id="13"/>
          <p:cNvSpPr/>
          <p:nvPr/>
        </p:nvSpPr>
        <p:spPr>
          <a:xfrm>
            <a:off x="13120128" y="5456857"/>
            <a:ext cx="2124485" cy="0"/>
          </a:xfrm>
          <a:prstGeom prst="line">
            <a:avLst/>
          </a:prstGeom>
          <a:ln cap="flat" w="28575">
            <a:solidFill>
              <a:srgbClr val="FFFFFF"/>
            </a:solidFill>
            <a:prstDash val="solid"/>
            <a:headEnd type="none" len="sm" w="sm"/>
            <a:tailEnd type="none" len="sm" w="sm"/>
          </a:ln>
        </p:spPr>
      </p:sp>
      <p:sp>
        <p:nvSpPr>
          <p:cNvPr name="TextBox 14" id="14"/>
          <p:cNvSpPr txBox="true"/>
          <p:nvPr/>
        </p:nvSpPr>
        <p:spPr>
          <a:xfrm rot="0">
            <a:off x="14833745" y="4973780"/>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2</a:t>
            </a:r>
          </a:p>
        </p:txBody>
      </p:sp>
      <p:sp>
        <p:nvSpPr>
          <p:cNvPr name="TextBox 15" id="15"/>
          <p:cNvSpPr txBox="true"/>
          <p:nvPr/>
        </p:nvSpPr>
        <p:spPr>
          <a:xfrm rot="0">
            <a:off x="13108492" y="5465737"/>
            <a:ext cx="227005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 mol O</a:t>
            </a:r>
          </a:p>
        </p:txBody>
      </p:sp>
      <p:sp>
        <p:nvSpPr>
          <p:cNvPr name="TextBox 16" id="16"/>
          <p:cNvSpPr txBox="true"/>
          <p:nvPr/>
        </p:nvSpPr>
        <p:spPr>
          <a:xfrm rot="0">
            <a:off x="15044997" y="5680560"/>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2</a:t>
            </a:r>
          </a:p>
        </p:txBody>
      </p:sp>
      <p:sp>
        <p:nvSpPr>
          <p:cNvPr name="AutoShape 17" id="17"/>
          <p:cNvSpPr/>
          <p:nvPr/>
        </p:nvSpPr>
        <p:spPr>
          <a:xfrm flipV="true">
            <a:off x="10121181" y="4863756"/>
            <a:ext cx="1608513" cy="431000"/>
          </a:xfrm>
          <a:prstGeom prst="line">
            <a:avLst/>
          </a:prstGeom>
          <a:ln cap="flat" w="28575">
            <a:solidFill>
              <a:srgbClr val="FFFFFF"/>
            </a:solidFill>
            <a:prstDash val="solid"/>
            <a:headEnd type="none" len="sm" w="sm"/>
            <a:tailEnd type="none" len="sm" w="sm"/>
          </a:ln>
        </p:spPr>
      </p:sp>
      <p:sp>
        <p:nvSpPr>
          <p:cNvPr name="AutoShape 18" id="18"/>
          <p:cNvSpPr/>
          <p:nvPr/>
        </p:nvSpPr>
        <p:spPr>
          <a:xfrm flipV="true">
            <a:off x="9934210" y="5508113"/>
            <a:ext cx="1608513" cy="431000"/>
          </a:xfrm>
          <a:prstGeom prst="line">
            <a:avLst/>
          </a:prstGeom>
          <a:ln cap="flat" w="28575">
            <a:solidFill>
              <a:srgbClr val="FFFFFF"/>
            </a:solidFill>
            <a:prstDash val="solid"/>
            <a:headEnd type="none" len="sm" w="sm"/>
            <a:tailEnd type="none" len="sm" w="sm"/>
          </a:ln>
        </p:spPr>
      </p:sp>
      <p:sp>
        <p:nvSpPr>
          <p:cNvPr name="AutoShape 19" id="19"/>
          <p:cNvSpPr/>
          <p:nvPr/>
        </p:nvSpPr>
        <p:spPr>
          <a:xfrm flipV="true">
            <a:off x="13766339" y="5647763"/>
            <a:ext cx="1608513" cy="431000"/>
          </a:xfrm>
          <a:prstGeom prst="line">
            <a:avLst/>
          </a:prstGeom>
          <a:ln cap="flat" w="28575">
            <a:solidFill>
              <a:srgbClr val="FFFFFF"/>
            </a:solidFill>
            <a:prstDash val="solid"/>
            <a:headEnd type="none" len="sm" w="sm"/>
            <a:tailEnd type="none" len="sm" w="sm"/>
          </a:ln>
        </p:spPr>
      </p:sp>
      <p:sp>
        <p:nvSpPr>
          <p:cNvPr name="Freeform 20" id="20"/>
          <p:cNvSpPr/>
          <p:nvPr/>
        </p:nvSpPr>
        <p:spPr>
          <a:xfrm flipH="false" flipV="false" rot="0">
            <a:off x="16130346" y="4916258"/>
            <a:ext cx="1925552" cy="936299"/>
          </a:xfrm>
          <a:custGeom>
            <a:avLst/>
            <a:gdLst/>
            <a:ahLst/>
            <a:cxnLst/>
            <a:rect r="r" b="b" t="t" l="l"/>
            <a:pathLst>
              <a:path h="936299" w="1925552">
                <a:moveTo>
                  <a:pt x="0" y="0"/>
                </a:moveTo>
                <a:lnTo>
                  <a:pt x="1925552" y="0"/>
                </a:lnTo>
                <a:lnTo>
                  <a:pt x="1925552" y="936299"/>
                </a:lnTo>
                <a:lnTo>
                  <a:pt x="0" y="9362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1" id="21"/>
          <p:cNvSpPr/>
          <p:nvPr/>
        </p:nvSpPr>
        <p:spPr>
          <a:xfrm flipV="true">
            <a:off x="6122263" y="4748109"/>
            <a:ext cx="1608513" cy="431000"/>
          </a:xfrm>
          <a:prstGeom prst="line">
            <a:avLst/>
          </a:prstGeom>
          <a:ln cap="flat" w="28575">
            <a:solidFill>
              <a:srgbClr val="FFFFFF"/>
            </a:solidFill>
            <a:prstDash val="solid"/>
            <a:headEnd type="none" len="sm" w="sm"/>
            <a:tailEnd type="none" len="sm" w="sm"/>
          </a:ln>
        </p:spPr>
      </p:sp>
      <p:sp>
        <p:nvSpPr>
          <p:cNvPr name="TextBox 22" id="22"/>
          <p:cNvSpPr txBox="true"/>
          <p:nvPr/>
        </p:nvSpPr>
        <p:spPr>
          <a:xfrm rot="0">
            <a:off x="3430445" y="434997"/>
            <a:ext cx="11427109" cy="1196930"/>
          </a:xfrm>
          <a:prstGeom prst="rect">
            <a:avLst/>
          </a:prstGeom>
        </p:spPr>
        <p:txBody>
          <a:bodyPr anchor="t" rtlCol="false" tIns="0" lIns="0" bIns="0" rIns="0">
            <a:spAutoFit/>
          </a:bodyPr>
          <a:lstStyle/>
          <a:p>
            <a:pPr algn="ctr">
              <a:lnSpc>
                <a:spcPts val="9499"/>
              </a:lnSpc>
              <a:spcBef>
                <a:spcPct val="0"/>
              </a:spcBef>
            </a:pPr>
            <a:r>
              <a:rPr lang="en-US" b="true" sz="7916">
                <a:solidFill>
                  <a:srgbClr val="FFFFFF"/>
                </a:solidFill>
                <a:latin typeface="Quicksand Bold"/>
                <a:ea typeface="Quicksand Bold"/>
                <a:cs typeface="Quicksand Bold"/>
                <a:sym typeface="Quicksand Bold"/>
              </a:rPr>
              <a:t>Convert into moles</a:t>
            </a:r>
          </a:p>
        </p:txBody>
      </p:sp>
      <p:sp>
        <p:nvSpPr>
          <p:cNvPr name="TextBox 23" id="23"/>
          <p:cNvSpPr txBox="true"/>
          <p:nvPr/>
        </p:nvSpPr>
        <p:spPr>
          <a:xfrm rot="0">
            <a:off x="7782100" y="4985794"/>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3</a:t>
            </a:r>
          </a:p>
        </p:txBody>
      </p:sp>
      <p:sp>
        <p:nvSpPr>
          <p:cNvPr name="TextBox 24" id="24"/>
          <p:cNvSpPr txBox="true"/>
          <p:nvPr/>
        </p:nvSpPr>
        <p:spPr>
          <a:xfrm rot="0">
            <a:off x="7782100" y="5783548"/>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3</a:t>
            </a:r>
          </a:p>
        </p:txBody>
      </p:sp>
      <p:sp>
        <p:nvSpPr>
          <p:cNvPr name="TextBox 25" id="25"/>
          <p:cNvSpPr txBox="true"/>
          <p:nvPr/>
        </p:nvSpPr>
        <p:spPr>
          <a:xfrm rot="0">
            <a:off x="8344993" y="5068706"/>
            <a:ext cx="765321"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x</a:t>
            </a:r>
          </a:p>
        </p:txBody>
      </p:sp>
      <p:sp>
        <p:nvSpPr>
          <p:cNvPr name="TextBox 26" id="26"/>
          <p:cNvSpPr txBox="true"/>
          <p:nvPr/>
        </p:nvSpPr>
        <p:spPr>
          <a:xfrm rot="0">
            <a:off x="11691995" y="5756382"/>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3</a:t>
            </a:r>
          </a:p>
        </p:txBody>
      </p:sp>
      <p:sp>
        <p:nvSpPr>
          <p:cNvPr name="TextBox 27" id="27"/>
          <p:cNvSpPr txBox="true"/>
          <p:nvPr/>
        </p:nvSpPr>
        <p:spPr>
          <a:xfrm rot="0">
            <a:off x="12009617" y="5068706"/>
            <a:ext cx="765321"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x</a:t>
            </a:r>
          </a:p>
        </p:txBody>
      </p:sp>
      <p:sp>
        <p:nvSpPr>
          <p:cNvPr name="TextBox 28" id="28"/>
          <p:cNvSpPr txBox="true"/>
          <p:nvPr/>
        </p:nvSpPr>
        <p:spPr>
          <a:xfrm rot="0">
            <a:off x="11419592" y="4973134"/>
            <a:ext cx="544806" cy="483078"/>
          </a:xfrm>
          <a:prstGeom prst="rect">
            <a:avLst/>
          </a:prstGeom>
        </p:spPr>
        <p:txBody>
          <a:bodyPr anchor="t" rtlCol="false" tIns="0" lIns="0" bIns="0" rIns="0">
            <a:spAutoFit/>
          </a:bodyPr>
          <a:lstStyle/>
          <a:p>
            <a:pPr algn="ctr">
              <a:lnSpc>
                <a:spcPts val="3878"/>
              </a:lnSpc>
              <a:spcBef>
                <a:spcPct val="0"/>
              </a:spcBef>
            </a:pPr>
            <a:r>
              <a:rPr lang="en-US" b="true" sz="3232">
                <a:solidFill>
                  <a:srgbClr val="FFFFFF"/>
                </a:solidFill>
                <a:latin typeface="Quicksand Bold"/>
                <a:ea typeface="Quicksand Bold"/>
                <a:cs typeface="Quicksand Bold"/>
                <a:sym typeface="Quicksand Bold"/>
              </a:rPr>
              <a:t>2</a:t>
            </a:r>
          </a:p>
        </p:txBody>
      </p:sp>
      <p:sp>
        <p:nvSpPr>
          <p:cNvPr name="TextBox 29" id="29"/>
          <p:cNvSpPr txBox="true"/>
          <p:nvPr/>
        </p:nvSpPr>
        <p:spPr>
          <a:xfrm rot="0">
            <a:off x="15365025" y="5212486"/>
            <a:ext cx="765321"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a:t>
            </a:r>
          </a:p>
        </p:txBody>
      </p:sp>
      <p:sp>
        <p:nvSpPr>
          <p:cNvPr name="TextBox 30" id="30"/>
          <p:cNvSpPr txBox="true"/>
          <p:nvPr/>
        </p:nvSpPr>
        <p:spPr>
          <a:xfrm rot="0">
            <a:off x="15999377" y="5160586"/>
            <a:ext cx="227005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11.80 g</a:t>
            </a:r>
          </a:p>
        </p:txBody>
      </p:sp>
      <p:sp>
        <p:nvSpPr>
          <p:cNvPr name="TextBox 31" id="31"/>
          <p:cNvSpPr txBox="true"/>
          <p:nvPr/>
        </p:nvSpPr>
        <p:spPr>
          <a:xfrm rot="0">
            <a:off x="15747685" y="6163638"/>
            <a:ext cx="2484549" cy="829993"/>
          </a:xfrm>
          <a:prstGeom prst="rect">
            <a:avLst/>
          </a:prstGeom>
        </p:spPr>
        <p:txBody>
          <a:bodyPr anchor="t" rtlCol="false" tIns="0" lIns="0" bIns="0" rIns="0">
            <a:spAutoFit/>
          </a:bodyPr>
          <a:lstStyle/>
          <a:p>
            <a:pPr algn="ctr">
              <a:lnSpc>
                <a:spcPts val="3267"/>
              </a:lnSpc>
              <a:spcBef>
                <a:spcPct val="0"/>
              </a:spcBef>
            </a:pPr>
            <a:r>
              <a:rPr lang="en-US" b="true" sz="2723">
                <a:solidFill>
                  <a:srgbClr val="FFFFFF"/>
                </a:solidFill>
                <a:latin typeface="Quicksand Bold"/>
                <a:ea typeface="Quicksand Bold"/>
                <a:cs typeface="Quicksand Bold"/>
                <a:sym typeface="Quicksand Bold"/>
              </a:rPr>
              <a:t>Theoretical Yield</a:t>
            </a:r>
          </a:p>
        </p:txBody>
      </p:sp>
      <p:sp>
        <p:nvSpPr>
          <p:cNvPr name="TextBox 32" id="32"/>
          <p:cNvSpPr txBox="true"/>
          <p:nvPr/>
        </p:nvSpPr>
        <p:spPr>
          <a:xfrm rot="0">
            <a:off x="470953" y="4067380"/>
            <a:ext cx="1913297" cy="657225"/>
          </a:xfrm>
          <a:prstGeom prst="rect">
            <a:avLst/>
          </a:prstGeom>
        </p:spPr>
        <p:txBody>
          <a:bodyPr anchor="t" rtlCol="false" tIns="0" lIns="0" bIns="0" rIns="0">
            <a:spAutoFit/>
          </a:bodyPr>
          <a:lstStyle/>
          <a:p>
            <a:pPr algn="l">
              <a:lnSpc>
                <a:spcPts val="5195"/>
              </a:lnSpc>
              <a:spcBef>
                <a:spcPct val="0"/>
              </a:spcBef>
            </a:pPr>
            <a:r>
              <a:rPr lang="en-US" sz="4329" b="true">
                <a:solidFill>
                  <a:srgbClr val="FF3131"/>
                </a:solidFill>
                <a:latin typeface="Quicksand Bold"/>
                <a:ea typeface="Quicksand Bold"/>
                <a:cs typeface="Quicksand Bold"/>
                <a:sym typeface="Quicksand Bold"/>
              </a:rPr>
              <a:t>STEP 1</a:t>
            </a:r>
          </a:p>
        </p:txBody>
      </p:sp>
      <p:sp>
        <p:nvSpPr>
          <p:cNvPr name="TextBox 33" id="33"/>
          <p:cNvSpPr txBox="true"/>
          <p:nvPr/>
        </p:nvSpPr>
        <p:spPr>
          <a:xfrm rot="0">
            <a:off x="470953" y="6578634"/>
            <a:ext cx="1913297" cy="657225"/>
          </a:xfrm>
          <a:prstGeom prst="rect">
            <a:avLst/>
          </a:prstGeom>
        </p:spPr>
        <p:txBody>
          <a:bodyPr anchor="t" rtlCol="false" tIns="0" lIns="0" bIns="0" rIns="0">
            <a:spAutoFit/>
          </a:bodyPr>
          <a:lstStyle/>
          <a:p>
            <a:pPr algn="l">
              <a:lnSpc>
                <a:spcPts val="5195"/>
              </a:lnSpc>
              <a:spcBef>
                <a:spcPct val="0"/>
              </a:spcBef>
            </a:pPr>
            <a:r>
              <a:rPr lang="en-US" sz="4329" b="true">
                <a:solidFill>
                  <a:srgbClr val="FF3131"/>
                </a:solidFill>
                <a:latin typeface="Quicksand Bold"/>
                <a:ea typeface="Quicksand Bold"/>
                <a:cs typeface="Quicksand Bold"/>
                <a:sym typeface="Quicksand Bold"/>
              </a:rPr>
              <a:t>STEP 2</a:t>
            </a:r>
          </a:p>
        </p:txBody>
      </p:sp>
      <p:sp>
        <p:nvSpPr>
          <p:cNvPr name="TextBox 34" id="34"/>
          <p:cNvSpPr txBox="true"/>
          <p:nvPr/>
        </p:nvSpPr>
        <p:spPr>
          <a:xfrm rot="0">
            <a:off x="-2031906" y="7400803"/>
            <a:ext cx="7739173"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 yield = </a:t>
            </a:r>
          </a:p>
        </p:txBody>
      </p:sp>
      <p:sp>
        <p:nvSpPr>
          <p:cNvPr name="TextBox 35" id="35"/>
          <p:cNvSpPr txBox="true"/>
          <p:nvPr/>
        </p:nvSpPr>
        <p:spPr>
          <a:xfrm rot="0">
            <a:off x="3212279" y="7400803"/>
            <a:ext cx="2074832"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10.50 g</a:t>
            </a:r>
          </a:p>
        </p:txBody>
      </p:sp>
      <p:sp>
        <p:nvSpPr>
          <p:cNvPr name="TextBox 36" id="36"/>
          <p:cNvSpPr txBox="true"/>
          <p:nvPr/>
        </p:nvSpPr>
        <p:spPr>
          <a:xfrm rot="0">
            <a:off x="3212279" y="8130168"/>
            <a:ext cx="2270058"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11.80 g</a:t>
            </a:r>
          </a:p>
        </p:txBody>
      </p:sp>
      <p:sp>
        <p:nvSpPr>
          <p:cNvPr name="AutoShape 37" id="37"/>
          <p:cNvSpPr/>
          <p:nvPr/>
        </p:nvSpPr>
        <p:spPr>
          <a:xfrm>
            <a:off x="3430445" y="8120643"/>
            <a:ext cx="1741801" cy="0"/>
          </a:xfrm>
          <a:prstGeom prst="line">
            <a:avLst/>
          </a:prstGeom>
          <a:ln cap="flat" w="28575">
            <a:solidFill>
              <a:srgbClr val="FFFFFF"/>
            </a:solidFill>
            <a:prstDash val="solid"/>
            <a:headEnd type="none" len="sm" w="sm"/>
            <a:tailEnd type="none" len="sm" w="sm"/>
          </a:ln>
        </p:spPr>
      </p:sp>
      <p:sp>
        <p:nvSpPr>
          <p:cNvPr name="TextBox 38" id="38"/>
          <p:cNvSpPr txBox="true"/>
          <p:nvPr/>
        </p:nvSpPr>
        <p:spPr>
          <a:xfrm rot="0">
            <a:off x="5277149" y="7793674"/>
            <a:ext cx="860237"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x</a:t>
            </a:r>
          </a:p>
        </p:txBody>
      </p:sp>
      <p:sp>
        <p:nvSpPr>
          <p:cNvPr name="TextBox 39" id="39"/>
          <p:cNvSpPr txBox="true"/>
          <p:nvPr/>
        </p:nvSpPr>
        <p:spPr>
          <a:xfrm rot="0">
            <a:off x="6324153" y="7825016"/>
            <a:ext cx="2074832"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100 %  = </a:t>
            </a:r>
          </a:p>
        </p:txBody>
      </p:sp>
      <p:sp>
        <p:nvSpPr>
          <p:cNvPr name="TextBox 40" id="40"/>
          <p:cNvSpPr txBox="true"/>
          <p:nvPr/>
        </p:nvSpPr>
        <p:spPr>
          <a:xfrm rot="0">
            <a:off x="8489203" y="7825016"/>
            <a:ext cx="1242222" cy="600778"/>
          </a:xfrm>
          <a:prstGeom prst="rect">
            <a:avLst/>
          </a:prstGeom>
        </p:spPr>
        <p:txBody>
          <a:bodyPr anchor="t" rtlCol="false" tIns="0" lIns="0" bIns="0" rIns="0">
            <a:spAutoFit/>
          </a:bodyPr>
          <a:lstStyle/>
          <a:p>
            <a:pPr algn="ctr">
              <a:lnSpc>
                <a:spcPts val="4805"/>
              </a:lnSpc>
              <a:spcBef>
                <a:spcPct val="0"/>
              </a:spcBef>
            </a:pPr>
            <a:r>
              <a:rPr lang="en-US" b="true" sz="4004">
                <a:solidFill>
                  <a:srgbClr val="FFFFFF"/>
                </a:solidFill>
                <a:latin typeface="Quicksand Bold"/>
                <a:ea typeface="Quicksand Bold"/>
                <a:cs typeface="Quicksand Bold"/>
                <a:sym typeface="Quicksand Bold"/>
              </a:rPr>
              <a:t>89 %</a:t>
            </a:r>
          </a:p>
        </p:txBody>
      </p:sp>
      <p:sp>
        <p:nvSpPr>
          <p:cNvPr name="Freeform 41" id="41"/>
          <p:cNvSpPr/>
          <p:nvPr/>
        </p:nvSpPr>
        <p:spPr>
          <a:xfrm flipH="false" flipV="false" rot="0">
            <a:off x="8406475" y="7762021"/>
            <a:ext cx="1475049" cy="717243"/>
          </a:xfrm>
          <a:custGeom>
            <a:avLst/>
            <a:gdLst/>
            <a:ahLst/>
            <a:cxnLst/>
            <a:rect r="r" b="b" t="t" l="l"/>
            <a:pathLst>
              <a:path h="717243" w="1475049">
                <a:moveTo>
                  <a:pt x="0" y="0"/>
                </a:moveTo>
                <a:lnTo>
                  <a:pt x="1475050" y="0"/>
                </a:lnTo>
                <a:lnTo>
                  <a:pt x="1475050" y="717243"/>
                </a:lnTo>
                <a:lnTo>
                  <a:pt x="0" y="717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circle/>
  </p:transition>
</p:sld>
</file>

<file path=ppt/slides/slide15.xml><?xml version="1.0" encoding="utf-8"?>
<p:sld xmlns:p="http://schemas.openxmlformats.org/presentationml/2006/main" xmlns:a="http://schemas.openxmlformats.org/drawingml/2006/main">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3430445" y="434997"/>
            <a:ext cx="11427109" cy="1196930"/>
          </a:xfrm>
          <a:prstGeom prst="rect">
            <a:avLst/>
          </a:prstGeom>
        </p:spPr>
        <p:txBody>
          <a:bodyPr anchor="t" rtlCol="false" tIns="0" lIns="0" bIns="0" rIns="0">
            <a:spAutoFit/>
          </a:bodyPr>
          <a:lstStyle/>
          <a:p>
            <a:pPr algn="ctr">
              <a:lnSpc>
                <a:spcPts val="9499"/>
              </a:lnSpc>
              <a:spcBef>
                <a:spcPct val="0"/>
              </a:spcBef>
            </a:pPr>
            <a:r>
              <a:rPr lang="en-US" b="true" sz="7916">
                <a:solidFill>
                  <a:srgbClr val="FFFFFF"/>
                </a:solidFill>
                <a:latin typeface="Quicksand Bold"/>
                <a:ea typeface="Quicksand Bold"/>
                <a:cs typeface="Quicksand Bold"/>
                <a:sym typeface="Quicksand Bold"/>
              </a:rPr>
              <a:t>SAMPLE PROBLEM 2</a:t>
            </a:r>
          </a:p>
        </p:txBody>
      </p:sp>
      <p:sp>
        <p:nvSpPr>
          <p:cNvPr name="TextBox 3" id="3"/>
          <p:cNvSpPr txBox="true"/>
          <p:nvPr/>
        </p:nvSpPr>
        <p:spPr>
          <a:xfrm rot="0">
            <a:off x="347932" y="2878520"/>
            <a:ext cx="17592136" cy="4529959"/>
          </a:xfrm>
          <a:prstGeom prst="rect">
            <a:avLst/>
          </a:prstGeom>
        </p:spPr>
        <p:txBody>
          <a:bodyPr anchor="t" rtlCol="false" tIns="0" lIns="0" bIns="0" rIns="0">
            <a:spAutoFit/>
          </a:bodyPr>
          <a:lstStyle/>
          <a:p>
            <a:pPr algn="ctr">
              <a:lnSpc>
                <a:spcPts val="7177"/>
              </a:lnSpc>
              <a:spcBef>
                <a:spcPct val="0"/>
              </a:spcBef>
            </a:pPr>
            <a:r>
              <a:rPr lang="en-US" b="true" sz="5981">
                <a:solidFill>
                  <a:srgbClr val="FFFFFF"/>
                </a:solidFill>
                <a:latin typeface="Quicksand Bold"/>
                <a:ea typeface="Quicksand Bold"/>
                <a:cs typeface="Quicksand Bold"/>
                <a:sym typeface="Quicksand Bold"/>
              </a:rPr>
              <a:t>2. The combustion of methane (CH  ) produces carbon dioxide. Assume that 2.0 mol of CH  burned in the presence of excess air. What is the percent yield if an experiment the reaction produces 87.0 g of CO  ?</a:t>
            </a:r>
          </a:p>
        </p:txBody>
      </p:sp>
      <p:sp>
        <p:nvSpPr>
          <p:cNvPr name="TextBox 4" id="4"/>
          <p:cNvSpPr txBox="true"/>
          <p:nvPr/>
        </p:nvSpPr>
        <p:spPr>
          <a:xfrm rot="0">
            <a:off x="13312264" y="3208044"/>
            <a:ext cx="429473" cy="736417"/>
          </a:xfrm>
          <a:prstGeom prst="rect">
            <a:avLst/>
          </a:prstGeom>
        </p:spPr>
        <p:txBody>
          <a:bodyPr anchor="t" rtlCol="false" tIns="0" lIns="0" bIns="0" rIns="0">
            <a:spAutoFit/>
          </a:bodyPr>
          <a:lstStyle/>
          <a:p>
            <a:pPr algn="ctr">
              <a:lnSpc>
                <a:spcPts val="5834"/>
              </a:lnSpc>
              <a:spcBef>
                <a:spcPct val="0"/>
              </a:spcBef>
            </a:pPr>
            <a:r>
              <a:rPr lang="en-US" b="true" sz="4862">
                <a:solidFill>
                  <a:srgbClr val="FFFFFF"/>
                </a:solidFill>
                <a:latin typeface="Quicksand Bold"/>
                <a:ea typeface="Quicksand Bold"/>
                <a:cs typeface="Quicksand Bold"/>
                <a:sym typeface="Quicksand Bold"/>
              </a:rPr>
              <a:t>4</a:t>
            </a:r>
          </a:p>
        </p:txBody>
      </p:sp>
      <p:sp>
        <p:nvSpPr>
          <p:cNvPr name="TextBox 5" id="5"/>
          <p:cNvSpPr txBox="true"/>
          <p:nvPr/>
        </p:nvSpPr>
        <p:spPr>
          <a:xfrm rot="0">
            <a:off x="12743216" y="6866684"/>
            <a:ext cx="429473" cy="736417"/>
          </a:xfrm>
          <a:prstGeom prst="rect">
            <a:avLst/>
          </a:prstGeom>
        </p:spPr>
        <p:txBody>
          <a:bodyPr anchor="t" rtlCol="false" tIns="0" lIns="0" bIns="0" rIns="0">
            <a:spAutoFit/>
          </a:bodyPr>
          <a:lstStyle/>
          <a:p>
            <a:pPr algn="ctr">
              <a:lnSpc>
                <a:spcPts val="5834"/>
              </a:lnSpc>
              <a:spcBef>
                <a:spcPct val="0"/>
              </a:spcBef>
            </a:pPr>
            <a:r>
              <a:rPr lang="en-US" b="true" sz="4862">
                <a:solidFill>
                  <a:srgbClr val="FFFFFF"/>
                </a:solidFill>
                <a:latin typeface="Quicksand Bold"/>
                <a:ea typeface="Quicksand Bold"/>
                <a:cs typeface="Quicksand Bold"/>
                <a:sym typeface="Quicksand Bold"/>
              </a:rPr>
              <a:t>2</a:t>
            </a:r>
          </a:p>
        </p:txBody>
      </p:sp>
    </p:spTree>
  </p:cSld>
  <p:clrMapOvr>
    <a:masterClrMapping/>
  </p:clrMapOvr>
  <p:transition spd="fast">
    <p:circl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3601325" y="4072234"/>
            <a:ext cx="11105594" cy="939119"/>
          </a:xfrm>
          <a:prstGeom prst="rect">
            <a:avLst/>
          </a:prstGeom>
        </p:spPr>
        <p:txBody>
          <a:bodyPr anchor="t" rtlCol="false" tIns="0" lIns="0" bIns="0" rIns="0">
            <a:spAutoFit/>
          </a:bodyPr>
          <a:lstStyle/>
          <a:p>
            <a:pPr algn="ctr">
              <a:lnSpc>
                <a:spcPts val="7440"/>
              </a:lnSpc>
              <a:spcBef>
                <a:spcPct val="0"/>
              </a:spcBef>
            </a:pPr>
            <a:r>
              <a:rPr lang="en-US" b="true" sz="6200">
                <a:solidFill>
                  <a:srgbClr val="FFFFFF"/>
                </a:solidFill>
                <a:latin typeface="Quicksand Bold"/>
                <a:ea typeface="Quicksand Bold"/>
                <a:cs typeface="Quicksand Bold"/>
                <a:sym typeface="Quicksand Bold"/>
              </a:rPr>
              <a:t>CH  + 2O       CO  + 2H  O</a:t>
            </a:r>
          </a:p>
        </p:txBody>
      </p:sp>
      <p:sp>
        <p:nvSpPr>
          <p:cNvPr name="TextBox 3" id="3"/>
          <p:cNvSpPr txBox="true"/>
          <p:nvPr/>
        </p:nvSpPr>
        <p:spPr>
          <a:xfrm rot="0">
            <a:off x="7810204" y="4532268"/>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AutoShape 4" id="4"/>
          <p:cNvSpPr/>
          <p:nvPr/>
        </p:nvSpPr>
        <p:spPr>
          <a:xfrm flipV="true">
            <a:off x="8325376" y="4541793"/>
            <a:ext cx="955226" cy="19045"/>
          </a:xfrm>
          <a:prstGeom prst="line">
            <a:avLst/>
          </a:prstGeom>
          <a:ln cap="flat" w="38100">
            <a:solidFill>
              <a:srgbClr val="FFFFFF"/>
            </a:solidFill>
            <a:prstDash val="solid"/>
            <a:headEnd type="none" len="sm" w="sm"/>
            <a:tailEnd type="arrow" len="sm" w="med"/>
          </a:ln>
        </p:spPr>
      </p:sp>
      <p:sp>
        <p:nvSpPr>
          <p:cNvPr name="TextBox 5" id="5"/>
          <p:cNvSpPr txBox="true"/>
          <p:nvPr/>
        </p:nvSpPr>
        <p:spPr>
          <a:xfrm rot="0">
            <a:off x="483354" y="5492574"/>
            <a:ext cx="13514232" cy="841226"/>
          </a:xfrm>
          <a:prstGeom prst="rect">
            <a:avLst/>
          </a:prstGeom>
        </p:spPr>
        <p:txBody>
          <a:bodyPr anchor="t" rtlCol="false" tIns="0" lIns="0" bIns="0" rIns="0">
            <a:spAutoFit/>
          </a:bodyPr>
          <a:lstStyle/>
          <a:p>
            <a:pPr algn="ctr">
              <a:lnSpc>
                <a:spcPts val="6740"/>
              </a:lnSpc>
              <a:spcBef>
                <a:spcPct val="0"/>
              </a:spcBef>
            </a:pPr>
            <a:r>
              <a:rPr lang="en-US" b="true" sz="5616">
                <a:solidFill>
                  <a:srgbClr val="FFFFFF"/>
                </a:solidFill>
                <a:latin typeface="Quicksand Bold"/>
                <a:ea typeface="Quicksand Bold"/>
                <a:cs typeface="Quicksand Bold"/>
                <a:sym typeface="Quicksand Bold"/>
              </a:rPr>
              <a:t>2.0 mol CH  x   1 mol CO    x  44 g CO  </a:t>
            </a:r>
          </a:p>
        </p:txBody>
      </p:sp>
      <p:sp>
        <p:nvSpPr>
          <p:cNvPr name="TextBox 6" id="6"/>
          <p:cNvSpPr txBox="true"/>
          <p:nvPr/>
        </p:nvSpPr>
        <p:spPr>
          <a:xfrm rot="0">
            <a:off x="8793835" y="5898900"/>
            <a:ext cx="700329" cy="628997"/>
          </a:xfrm>
          <a:prstGeom prst="rect">
            <a:avLst/>
          </a:prstGeom>
        </p:spPr>
        <p:txBody>
          <a:bodyPr anchor="t" rtlCol="false" tIns="0" lIns="0" bIns="0" rIns="0">
            <a:spAutoFit/>
          </a:bodyPr>
          <a:lstStyle/>
          <a:p>
            <a:pPr algn="ctr">
              <a:lnSpc>
                <a:spcPts val="4907"/>
              </a:lnSpc>
              <a:spcBef>
                <a:spcPct val="0"/>
              </a:spcBef>
            </a:pPr>
            <a:r>
              <a:rPr lang="en-US" b="true" sz="4089">
                <a:solidFill>
                  <a:srgbClr val="FFFFFF"/>
                </a:solidFill>
                <a:latin typeface="Quicksand Bold"/>
                <a:ea typeface="Quicksand Bold"/>
                <a:cs typeface="Quicksand Bold"/>
                <a:sym typeface="Quicksand Bold"/>
              </a:rPr>
              <a:t>2</a:t>
            </a:r>
          </a:p>
        </p:txBody>
      </p:sp>
      <p:sp>
        <p:nvSpPr>
          <p:cNvPr name="AutoShape 7" id="7"/>
          <p:cNvSpPr/>
          <p:nvPr/>
        </p:nvSpPr>
        <p:spPr>
          <a:xfrm>
            <a:off x="6047172" y="6508847"/>
            <a:ext cx="3096828" cy="0"/>
          </a:xfrm>
          <a:prstGeom prst="line">
            <a:avLst/>
          </a:prstGeom>
          <a:ln cap="flat" w="38100">
            <a:solidFill>
              <a:srgbClr val="FFFFFF"/>
            </a:solidFill>
            <a:prstDash val="solid"/>
            <a:headEnd type="none" len="sm" w="sm"/>
            <a:tailEnd type="none" len="sm" w="sm"/>
          </a:ln>
        </p:spPr>
      </p:sp>
      <p:sp>
        <p:nvSpPr>
          <p:cNvPr name="TextBox 8" id="8"/>
          <p:cNvSpPr txBox="true"/>
          <p:nvPr/>
        </p:nvSpPr>
        <p:spPr>
          <a:xfrm rot="0">
            <a:off x="5891583" y="6527897"/>
            <a:ext cx="3837242" cy="939119"/>
          </a:xfrm>
          <a:prstGeom prst="rect">
            <a:avLst/>
          </a:prstGeom>
        </p:spPr>
        <p:txBody>
          <a:bodyPr anchor="t" rtlCol="false" tIns="0" lIns="0" bIns="0" rIns="0">
            <a:spAutoFit/>
          </a:bodyPr>
          <a:lstStyle/>
          <a:p>
            <a:pPr algn="ctr">
              <a:lnSpc>
                <a:spcPts val="7440"/>
              </a:lnSpc>
              <a:spcBef>
                <a:spcPct val="0"/>
              </a:spcBef>
            </a:pPr>
            <a:r>
              <a:rPr lang="en-US" b="true" sz="6200">
                <a:solidFill>
                  <a:srgbClr val="FFFFFF"/>
                </a:solidFill>
                <a:latin typeface="Quicksand Bold"/>
                <a:ea typeface="Quicksand Bold"/>
                <a:cs typeface="Quicksand Bold"/>
                <a:sym typeface="Quicksand Bold"/>
              </a:rPr>
              <a:t>1 mol CH</a:t>
            </a:r>
          </a:p>
        </p:txBody>
      </p:sp>
      <p:sp>
        <p:nvSpPr>
          <p:cNvPr name="AutoShape 9" id="9"/>
          <p:cNvSpPr/>
          <p:nvPr/>
        </p:nvSpPr>
        <p:spPr>
          <a:xfrm>
            <a:off x="10318636" y="6489797"/>
            <a:ext cx="3096828" cy="0"/>
          </a:xfrm>
          <a:prstGeom prst="line">
            <a:avLst/>
          </a:prstGeom>
          <a:ln cap="flat" w="38100">
            <a:solidFill>
              <a:srgbClr val="FFFFFF"/>
            </a:solidFill>
            <a:prstDash val="solid"/>
            <a:headEnd type="none" len="sm" w="sm"/>
            <a:tailEnd type="none" len="sm" w="sm"/>
          </a:ln>
        </p:spPr>
      </p:sp>
      <p:sp>
        <p:nvSpPr>
          <p:cNvPr name="TextBox 10" id="10"/>
          <p:cNvSpPr txBox="true"/>
          <p:nvPr/>
        </p:nvSpPr>
        <p:spPr>
          <a:xfrm rot="0">
            <a:off x="10223971" y="6534587"/>
            <a:ext cx="3468868" cy="939119"/>
          </a:xfrm>
          <a:prstGeom prst="rect">
            <a:avLst/>
          </a:prstGeom>
        </p:spPr>
        <p:txBody>
          <a:bodyPr anchor="t" rtlCol="false" tIns="0" lIns="0" bIns="0" rIns="0">
            <a:spAutoFit/>
          </a:bodyPr>
          <a:lstStyle/>
          <a:p>
            <a:pPr algn="ctr">
              <a:lnSpc>
                <a:spcPts val="7440"/>
              </a:lnSpc>
              <a:spcBef>
                <a:spcPct val="0"/>
              </a:spcBef>
            </a:pPr>
            <a:r>
              <a:rPr lang="en-US" b="true" sz="6200">
                <a:solidFill>
                  <a:srgbClr val="FFFFFF"/>
                </a:solidFill>
                <a:latin typeface="Quicksand Bold"/>
                <a:ea typeface="Quicksand Bold"/>
                <a:cs typeface="Quicksand Bold"/>
                <a:sym typeface="Quicksand Bold"/>
              </a:rPr>
              <a:t>1 mol CO </a:t>
            </a:r>
          </a:p>
        </p:txBody>
      </p:sp>
      <p:sp>
        <p:nvSpPr>
          <p:cNvPr name="AutoShape 11" id="11"/>
          <p:cNvSpPr/>
          <p:nvPr/>
        </p:nvSpPr>
        <p:spPr>
          <a:xfrm flipV="true">
            <a:off x="2586017" y="5652914"/>
            <a:ext cx="1898579" cy="511023"/>
          </a:xfrm>
          <a:prstGeom prst="line">
            <a:avLst/>
          </a:prstGeom>
          <a:ln cap="flat" w="38100">
            <a:solidFill>
              <a:srgbClr val="FFFFFF"/>
            </a:solidFill>
            <a:prstDash val="solid"/>
            <a:headEnd type="none" len="sm" w="sm"/>
            <a:tailEnd type="none" len="sm" w="sm"/>
          </a:ln>
        </p:spPr>
      </p:sp>
      <p:sp>
        <p:nvSpPr>
          <p:cNvPr name="AutoShape 12" id="12"/>
          <p:cNvSpPr/>
          <p:nvPr/>
        </p:nvSpPr>
        <p:spPr>
          <a:xfrm flipV="true">
            <a:off x="7240470" y="6841567"/>
            <a:ext cx="1898579" cy="511023"/>
          </a:xfrm>
          <a:prstGeom prst="line">
            <a:avLst/>
          </a:prstGeom>
          <a:ln cap="flat" w="38100">
            <a:solidFill>
              <a:srgbClr val="FFFFFF"/>
            </a:solidFill>
            <a:prstDash val="solid"/>
            <a:headEnd type="none" len="sm" w="sm"/>
            <a:tailEnd type="none" len="sm" w="sm"/>
          </a:ln>
        </p:spPr>
      </p:sp>
      <p:sp>
        <p:nvSpPr>
          <p:cNvPr name="AutoShape 13" id="13"/>
          <p:cNvSpPr/>
          <p:nvPr/>
        </p:nvSpPr>
        <p:spPr>
          <a:xfrm flipV="true">
            <a:off x="6860914" y="5652914"/>
            <a:ext cx="1898579" cy="511023"/>
          </a:xfrm>
          <a:prstGeom prst="line">
            <a:avLst/>
          </a:prstGeom>
          <a:ln cap="flat" w="38100">
            <a:solidFill>
              <a:srgbClr val="FFFFFF"/>
            </a:solidFill>
            <a:prstDash val="solid"/>
            <a:headEnd type="none" len="sm" w="sm"/>
            <a:tailEnd type="none" len="sm" w="sm"/>
          </a:ln>
        </p:spPr>
      </p:sp>
      <p:sp>
        <p:nvSpPr>
          <p:cNvPr name="AutoShape 14" id="14"/>
          <p:cNvSpPr/>
          <p:nvPr/>
        </p:nvSpPr>
        <p:spPr>
          <a:xfrm flipV="true">
            <a:off x="11511934" y="6784464"/>
            <a:ext cx="1898579" cy="511023"/>
          </a:xfrm>
          <a:prstGeom prst="line">
            <a:avLst/>
          </a:prstGeom>
          <a:ln cap="flat" w="38100">
            <a:solidFill>
              <a:srgbClr val="FFFFFF"/>
            </a:solidFill>
            <a:prstDash val="solid"/>
            <a:headEnd type="none" len="sm" w="sm"/>
            <a:tailEnd type="none" len="sm" w="sm"/>
          </a:ln>
        </p:spPr>
      </p:sp>
      <p:sp>
        <p:nvSpPr>
          <p:cNvPr name="Freeform 15" id="15"/>
          <p:cNvSpPr/>
          <p:nvPr/>
        </p:nvSpPr>
        <p:spPr>
          <a:xfrm flipH="false" flipV="false" rot="0">
            <a:off x="14819440" y="5652914"/>
            <a:ext cx="3220259" cy="1565851"/>
          </a:xfrm>
          <a:custGeom>
            <a:avLst/>
            <a:gdLst/>
            <a:ahLst/>
            <a:cxnLst/>
            <a:rect r="r" b="b" t="t" l="l"/>
            <a:pathLst>
              <a:path h="1565851" w="3220259">
                <a:moveTo>
                  <a:pt x="0" y="0"/>
                </a:moveTo>
                <a:lnTo>
                  <a:pt x="3220259" y="0"/>
                </a:lnTo>
                <a:lnTo>
                  <a:pt x="3220259" y="1565851"/>
                </a:lnTo>
                <a:lnTo>
                  <a:pt x="0" y="1565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0" y="523414"/>
            <a:ext cx="17955753" cy="3248862"/>
          </a:xfrm>
          <a:prstGeom prst="rect">
            <a:avLst/>
          </a:prstGeom>
        </p:spPr>
        <p:txBody>
          <a:bodyPr anchor="t" rtlCol="false" tIns="0" lIns="0" bIns="0" rIns="0">
            <a:spAutoFit/>
          </a:bodyPr>
          <a:lstStyle/>
          <a:p>
            <a:pPr algn="ctr">
              <a:lnSpc>
                <a:spcPts val="6434"/>
              </a:lnSpc>
              <a:spcBef>
                <a:spcPct val="0"/>
              </a:spcBef>
            </a:pPr>
            <a:r>
              <a:rPr lang="en-US" b="true" sz="5362">
                <a:solidFill>
                  <a:srgbClr val="FFFFFF"/>
                </a:solidFill>
                <a:latin typeface="Quicksand Bold"/>
                <a:ea typeface="Quicksand Bold"/>
                <a:cs typeface="Quicksand Bold"/>
                <a:sym typeface="Quicksand Bold"/>
              </a:rPr>
              <a:t>2. The combustion of methane (CH  ) produces carbon dioxide. Assume that 2.0 mol of CH  burned in the presence of excess air. What is the percent yield if an experiment the reaction produces 87.0 g of CO  ?</a:t>
            </a:r>
          </a:p>
        </p:txBody>
      </p:sp>
      <p:sp>
        <p:nvSpPr>
          <p:cNvPr name="TextBox 17" id="17"/>
          <p:cNvSpPr txBox="true"/>
          <p:nvPr/>
        </p:nvSpPr>
        <p:spPr>
          <a:xfrm rot="0">
            <a:off x="11189919" y="878715"/>
            <a:ext cx="908782" cy="599916"/>
          </a:xfrm>
          <a:prstGeom prst="rect">
            <a:avLst/>
          </a:prstGeom>
        </p:spPr>
        <p:txBody>
          <a:bodyPr anchor="t" rtlCol="false" tIns="0" lIns="0" bIns="0" rIns="0">
            <a:spAutoFit/>
          </a:bodyPr>
          <a:lstStyle/>
          <a:p>
            <a:pPr algn="ctr">
              <a:lnSpc>
                <a:spcPts val="4752"/>
              </a:lnSpc>
              <a:spcBef>
                <a:spcPct val="0"/>
              </a:spcBef>
            </a:pPr>
            <a:r>
              <a:rPr lang="en-US" b="true" sz="3960">
                <a:solidFill>
                  <a:srgbClr val="FFFFFF"/>
                </a:solidFill>
                <a:latin typeface="Quicksand Bold"/>
                <a:ea typeface="Quicksand Bold"/>
                <a:cs typeface="Quicksand Bold"/>
                <a:sym typeface="Quicksand Bold"/>
              </a:rPr>
              <a:t>4</a:t>
            </a:r>
          </a:p>
        </p:txBody>
      </p:sp>
      <p:sp>
        <p:nvSpPr>
          <p:cNvPr name="TextBox 18" id="18"/>
          <p:cNvSpPr txBox="true"/>
          <p:nvPr/>
        </p:nvSpPr>
        <p:spPr>
          <a:xfrm rot="0">
            <a:off x="14706919" y="1654723"/>
            <a:ext cx="908782" cy="599916"/>
          </a:xfrm>
          <a:prstGeom prst="rect">
            <a:avLst/>
          </a:prstGeom>
        </p:spPr>
        <p:txBody>
          <a:bodyPr anchor="t" rtlCol="false" tIns="0" lIns="0" bIns="0" rIns="0">
            <a:spAutoFit/>
          </a:bodyPr>
          <a:lstStyle/>
          <a:p>
            <a:pPr algn="ctr">
              <a:lnSpc>
                <a:spcPts val="4752"/>
              </a:lnSpc>
              <a:spcBef>
                <a:spcPct val="0"/>
              </a:spcBef>
            </a:pPr>
            <a:r>
              <a:rPr lang="en-US" b="true" sz="3960">
                <a:solidFill>
                  <a:srgbClr val="FFFFFF"/>
                </a:solidFill>
                <a:latin typeface="Quicksand Bold"/>
                <a:ea typeface="Quicksand Bold"/>
                <a:cs typeface="Quicksand Bold"/>
                <a:sym typeface="Quicksand Bold"/>
              </a:rPr>
              <a:t>4</a:t>
            </a:r>
          </a:p>
        </p:txBody>
      </p:sp>
      <p:sp>
        <p:nvSpPr>
          <p:cNvPr name="TextBox 19" id="19"/>
          <p:cNvSpPr txBox="true"/>
          <p:nvPr/>
        </p:nvSpPr>
        <p:spPr>
          <a:xfrm rot="0">
            <a:off x="15975179" y="3472318"/>
            <a:ext cx="908782" cy="599916"/>
          </a:xfrm>
          <a:prstGeom prst="rect">
            <a:avLst/>
          </a:prstGeom>
        </p:spPr>
        <p:txBody>
          <a:bodyPr anchor="t" rtlCol="false" tIns="0" lIns="0" bIns="0" rIns="0">
            <a:spAutoFit/>
          </a:bodyPr>
          <a:lstStyle/>
          <a:p>
            <a:pPr algn="ctr">
              <a:lnSpc>
                <a:spcPts val="4752"/>
              </a:lnSpc>
              <a:spcBef>
                <a:spcPct val="0"/>
              </a:spcBef>
            </a:pPr>
            <a:r>
              <a:rPr lang="en-US" b="true" sz="3960">
                <a:solidFill>
                  <a:srgbClr val="FFFFFF"/>
                </a:solidFill>
                <a:latin typeface="Quicksand Bold"/>
                <a:ea typeface="Quicksand Bold"/>
                <a:cs typeface="Quicksand Bold"/>
                <a:sym typeface="Quicksand Bold"/>
              </a:rPr>
              <a:t>2</a:t>
            </a:r>
          </a:p>
        </p:txBody>
      </p:sp>
      <p:sp>
        <p:nvSpPr>
          <p:cNvPr name="TextBox 20" id="20"/>
          <p:cNvSpPr txBox="true"/>
          <p:nvPr/>
        </p:nvSpPr>
        <p:spPr>
          <a:xfrm rot="0">
            <a:off x="5556805" y="4532268"/>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4</a:t>
            </a:r>
          </a:p>
        </p:txBody>
      </p:sp>
      <p:sp>
        <p:nvSpPr>
          <p:cNvPr name="TextBox 21" id="21"/>
          <p:cNvSpPr txBox="true"/>
          <p:nvPr/>
        </p:nvSpPr>
        <p:spPr>
          <a:xfrm rot="0">
            <a:off x="10368687" y="4532268"/>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TextBox 22" id="22"/>
          <p:cNvSpPr txBox="true"/>
          <p:nvPr/>
        </p:nvSpPr>
        <p:spPr>
          <a:xfrm rot="0">
            <a:off x="12625143" y="4532268"/>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TextBox 23" id="23"/>
          <p:cNvSpPr txBox="true"/>
          <p:nvPr/>
        </p:nvSpPr>
        <p:spPr>
          <a:xfrm rot="0">
            <a:off x="4403868" y="5898900"/>
            <a:ext cx="700329" cy="628997"/>
          </a:xfrm>
          <a:prstGeom prst="rect">
            <a:avLst/>
          </a:prstGeom>
        </p:spPr>
        <p:txBody>
          <a:bodyPr anchor="t" rtlCol="false" tIns="0" lIns="0" bIns="0" rIns="0">
            <a:spAutoFit/>
          </a:bodyPr>
          <a:lstStyle/>
          <a:p>
            <a:pPr algn="ctr">
              <a:lnSpc>
                <a:spcPts val="4907"/>
              </a:lnSpc>
              <a:spcBef>
                <a:spcPct val="0"/>
              </a:spcBef>
            </a:pPr>
            <a:r>
              <a:rPr lang="en-US" b="true" sz="4089">
                <a:solidFill>
                  <a:srgbClr val="FFFFFF"/>
                </a:solidFill>
                <a:latin typeface="Quicksand Bold"/>
                <a:ea typeface="Quicksand Bold"/>
                <a:cs typeface="Quicksand Bold"/>
                <a:sym typeface="Quicksand Bold"/>
              </a:rPr>
              <a:t>4</a:t>
            </a:r>
          </a:p>
        </p:txBody>
      </p:sp>
      <p:sp>
        <p:nvSpPr>
          <p:cNvPr name="TextBox 24" id="24"/>
          <p:cNvSpPr txBox="true"/>
          <p:nvPr/>
        </p:nvSpPr>
        <p:spPr>
          <a:xfrm rot="0">
            <a:off x="9280602" y="6994622"/>
            <a:ext cx="700329" cy="628997"/>
          </a:xfrm>
          <a:prstGeom prst="rect">
            <a:avLst/>
          </a:prstGeom>
        </p:spPr>
        <p:txBody>
          <a:bodyPr anchor="t" rtlCol="false" tIns="0" lIns="0" bIns="0" rIns="0">
            <a:spAutoFit/>
          </a:bodyPr>
          <a:lstStyle/>
          <a:p>
            <a:pPr algn="ctr">
              <a:lnSpc>
                <a:spcPts val="4907"/>
              </a:lnSpc>
              <a:spcBef>
                <a:spcPct val="0"/>
              </a:spcBef>
            </a:pPr>
            <a:r>
              <a:rPr lang="en-US" b="true" sz="4089">
                <a:solidFill>
                  <a:srgbClr val="FFFFFF"/>
                </a:solidFill>
                <a:latin typeface="Quicksand Bold"/>
                <a:ea typeface="Quicksand Bold"/>
                <a:cs typeface="Quicksand Bold"/>
                <a:sym typeface="Quicksand Bold"/>
              </a:rPr>
              <a:t>4</a:t>
            </a:r>
          </a:p>
        </p:txBody>
      </p:sp>
      <p:sp>
        <p:nvSpPr>
          <p:cNvPr name="TextBox 25" id="25"/>
          <p:cNvSpPr txBox="true"/>
          <p:nvPr/>
        </p:nvSpPr>
        <p:spPr>
          <a:xfrm rot="0">
            <a:off x="13398048" y="6968112"/>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TextBox 26" id="26"/>
          <p:cNvSpPr txBox="true"/>
          <p:nvPr/>
        </p:nvSpPr>
        <p:spPr>
          <a:xfrm rot="0">
            <a:off x="13120673" y="5872390"/>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TextBox 27" id="27"/>
          <p:cNvSpPr txBox="true"/>
          <p:nvPr/>
        </p:nvSpPr>
        <p:spPr>
          <a:xfrm rot="0">
            <a:off x="13881267" y="5864241"/>
            <a:ext cx="825652" cy="939119"/>
          </a:xfrm>
          <a:prstGeom prst="rect">
            <a:avLst/>
          </a:prstGeom>
        </p:spPr>
        <p:txBody>
          <a:bodyPr anchor="t" rtlCol="false" tIns="0" lIns="0" bIns="0" rIns="0">
            <a:spAutoFit/>
          </a:bodyPr>
          <a:lstStyle/>
          <a:p>
            <a:pPr algn="ctr">
              <a:lnSpc>
                <a:spcPts val="7440"/>
              </a:lnSpc>
              <a:spcBef>
                <a:spcPct val="0"/>
              </a:spcBef>
            </a:pPr>
            <a:r>
              <a:rPr lang="en-US" b="true" sz="6200">
                <a:solidFill>
                  <a:srgbClr val="FFFFFF"/>
                </a:solidFill>
                <a:latin typeface="Quicksand Bold"/>
                <a:ea typeface="Quicksand Bold"/>
                <a:cs typeface="Quicksand Bold"/>
                <a:sym typeface="Quicksand Bold"/>
              </a:rPr>
              <a:t>=</a:t>
            </a:r>
          </a:p>
        </p:txBody>
      </p:sp>
      <p:sp>
        <p:nvSpPr>
          <p:cNvPr name="TextBox 28" id="28"/>
          <p:cNvSpPr txBox="true"/>
          <p:nvPr/>
        </p:nvSpPr>
        <p:spPr>
          <a:xfrm rot="0">
            <a:off x="14651763" y="5917950"/>
            <a:ext cx="3323441" cy="841226"/>
          </a:xfrm>
          <a:prstGeom prst="rect">
            <a:avLst/>
          </a:prstGeom>
        </p:spPr>
        <p:txBody>
          <a:bodyPr anchor="t" rtlCol="false" tIns="0" lIns="0" bIns="0" rIns="0">
            <a:spAutoFit/>
          </a:bodyPr>
          <a:lstStyle/>
          <a:p>
            <a:pPr algn="ctr">
              <a:lnSpc>
                <a:spcPts val="6740"/>
              </a:lnSpc>
              <a:spcBef>
                <a:spcPct val="0"/>
              </a:spcBef>
            </a:pPr>
            <a:r>
              <a:rPr lang="en-US" b="true" sz="5616">
                <a:solidFill>
                  <a:srgbClr val="FFFFFF"/>
                </a:solidFill>
                <a:latin typeface="Quicksand Bold"/>
                <a:ea typeface="Quicksand Bold"/>
                <a:cs typeface="Quicksand Bold"/>
                <a:sym typeface="Quicksand Bold"/>
              </a:rPr>
              <a:t>88 g CO </a:t>
            </a:r>
          </a:p>
        </p:txBody>
      </p:sp>
      <p:sp>
        <p:nvSpPr>
          <p:cNvPr name="TextBox 29" id="29"/>
          <p:cNvSpPr txBox="true"/>
          <p:nvPr/>
        </p:nvSpPr>
        <p:spPr>
          <a:xfrm rot="0">
            <a:off x="17450119" y="6147854"/>
            <a:ext cx="589581" cy="655506"/>
          </a:xfrm>
          <a:prstGeom prst="rect">
            <a:avLst/>
          </a:prstGeom>
        </p:spPr>
        <p:txBody>
          <a:bodyPr anchor="t" rtlCol="false" tIns="0" lIns="0" bIns="0" rIns="0">
            <a:spAutoFit/>
          </a:bodyPr>
          <a:lstStyle/>
          <a:p>
            <a:pPr algn="ctr">
              <a:lnSpc>
                <a:spcPts val="5117"/>
              </a:lnSpc>
              <a:spcBef>
                <a:spcPct val="0"/>
              </a:spcBef>
            </a:pPr>
            <a:r>
              <a:rPr lang="en-US" b="true" sz="4264">
                <a:solidFill>
                  <a:srgbClr val="FFFFFF"/>
                </a:solidFill>
                <a:latin typeface="Quicksand Bold"/>
                <a:ea typeface="Quicksand Bold"/>
                <a:cs typeface="Quicksand Bold"/>
                <a:sym typeface="Quicksand Bold"/>
              </a:rPr>
              <a:t>2</a:t>
            </a:r>
          </a:p>
        </p:txBody>
      </p:sp>
      <p:sp>
        <p:nvSpPr>
          <p:cNvPr name="TextBox 30" id="30"/>
          <p:cNvSpPr txBox="true"/>
          <p:nvPr/>
        </p:nvSpPr>
        <p:spPr>
          <a:xfrm rot="0">
            <a:off x="103798" y="8128443"/>
            <a:ext cx="13514232" cy="841226"/>
          </a:xfrm>
          <a:prstGeom prst="rect">
            <a:avLst/>
          </a:prstGeom>
        </p:spPr>
        <p:txBody>
          <a:bodyPr anchor="t" rtlCol="false" tIns="0" lIns="0" bIns="0" rIns="0">
            <a:spAutoFit/>
          </a:bodyPr>
          <a:lstStyle/>
          <a:p>
            <a:pPr algn="ctr">
              <a:lnSpc>
                <a:spcPts val="6740"/>
              </a:lnSpc>
              <a:spcBef>
                <a:spcPct val="0"/>
              </a:spcBef>
            </a:pPr>
            <a:r>
              <a:rPr lang="en-US" b="true" sz="5616">
                <a:solidFill>
                  <a:srgbClr val="FFFFFF"/>
                </a:solidFill>
                <a:latin typeface="Quicksand Bold"/>
                <a:ea typeface="Quicksand Bold"/>
                <a:cs typeface="Quicksand Bold"/>
                <a:sym typeface="Quicksand Bold"/>
              </a:rPr>
              <a:t>% yield = 87.0 g   x   100% = 99%</a:t>
            </a:r>
          </a:p>
        </p:txBody>
      </p:sp>
      <p:sp>
        <p:nvSpPr>
          <p:cNvPr name="AutoShape 31" id="31"/>
          <p:cNvSpPr/>
          <p:nvPr/>
        </p:nvSpPr>
        <p:spPr>
          <a:xfrm>
            <a:off x="4303182" y="8998244"/>
            <a:ext cx="2557733" cy="0"/>
          </a:xfrm>
          <a:prstGeom prst="line">
            <a:avLst/>
          </a:prstGeom>
          <a:ln cap="flat" w="38100">
            <a:solidFill>
              <a:srgbClr val="FFFFFF"/>
            </a:solidFill>
            <a:prstDash val="solid"/>
            <a:headEnd type="none" len="sm" w="sm"/>
            <a:tailEnd type="none" len="sm" w="sm"/>
          </a:ln>
        </p:spPr>
      </p:sp>
      <p:sp>
        <p:nvSpPr>
          <p:cNvPr name="TextBox 32" id="32"/>
          <p:cNvSpPr txBox="true"/>
          <p:nvPr/>
        </p:nvSpPr>
        <p:spPr>
          <a:xfrm rot="0">
            <a:off x="3601325" y="9007769"/>
            <a:ext cx="4098322" cy="841226"/>
          </a:xfrm>
          <a:prstGeom prst="rect">
            <a:avLst/>
          </a:prstGeom>
        </p:spPr>
        <p:txBody>
          <a:bodyPr anchor="t" rtlCol="false" tIns="0" lIns="0" bIns="0" rIns="0">
            <a:spAutoFit/>
          </a:bodyPr>
          <a:lstStyle/>
          <a:p>
            <a:pPr algn="ctr">
              <a:lnSpc>
                <a:spcPts val="6740"/>
              </a:lnSpc>
              <a:spcBef>
                <a:spcPct val="0"/>
              </a:spcBef>
            </a:pPr>
            <a:r>
              <a:rPr lang="en-US" b="true" sz="5616">
                <a:solidFill>
                  <a:srgbClr val="FFFFFF"/>
                </a:solidFill>
                <a:latin typeface="Quicksand Bold"/>
                <a:ea typeface="Quicksand Bold"/>
                <a:cs typeface="Quicksand Bold"/>
                <a:sym typeface="Quicksand Bold"/>
              </a:rPr>
              <a:t>88.0 g</a:t>
            </a:r>
          </a:p>
        </p:txBody>
      </p:sp>
      <p:sp>
        <p:nvSpPr>
          <p:cNvPr name="Freeform 33" id="33"/>
          <p:cNvSpPr/>
          <p:nvPr/>
        </p:nvSpPr>
        <p:spPr>
          <a:xfrm flipH="false" flipV="false" rot="0">
            <a:off x="10663477" y="8015810"/>
            <a:ext cx="1961665" cy="953860"/>
          </a:xfrm>
          <a:custGeom>
            <a:avLst/>
            <a:gdLst/>
            <a:ahLst/>
            <a:cxnLst/>
            <a:rect r="r" b="b" t="t" l="l"/>
            <a:pathLst>
              <a:path h="953860" w="1961665">
                <a:moveTo>
                  <a:pt x="0" y="0"/>
                </a:moveTo>
                <a:lnTo>
                  <a:pt x="1961666" y="0"/>
                </a:lnTo>
                <a:lnTo>
                  <a:pt x="1961666" y="953859"/>
                </a:lnTo>
                <a:lnTo>
                  <a:pt x="0" y="953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circle/>
  </p:transition>
</p:sld>
</file>

<file path=ppt/slides/slide17.xml><?xml version="1.0" encoding="utf-8"?>
<p:sld xmlns:p="http://schemas.openxmlformats.org/presentationml/2006/main" xmlns:a="http://schemas.openxmlformats.org/drawingml/2006/main">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3430445" y="1038225"/>
            <a:ext cx="11427109" cy="1196930"/>
          </a:xfrm>
          <a:prstGeom prst="rect">
            <a:avLst/>
          </a:prstGeom>
        </p:spPr>
        <p:txBody>
          <a:bodyPr anchor="t" rtlCol="false" tIns="0" lIns="0" bIns="0" rIns="0">
            <a:spAutoFit/>
          </a:bodyPr>
          <a:lstStyle/>
          <a:p>
            <a:pPr algn="ctr">
              <a:lnSpc>
                <a:spcPts val="9499"/>
              </a:lnSpc>
              <a:spcBef>
                <a:spcPct val="0"/>
              </a:spcBef>
            </a:pPr>
            <a:r>
              <a:rPr lang="en-US" b="true" sz="7916">
                <a:solidFill>
                  <a:srgbClr val="FFFFFF"/>
                </a:solidFill>
                <a:latin typeface="Quicksand Bold"/>
                <a:ea typeface="Quicksand Bold"/>
                <a:cs typeface="Quicksand Bold"/>
                <a:sym typeface="Quicksand Bold"/>
              </a:rPr>
              <a:t>SAMPLE PROBLEM 3</a:t>
            </a:r>
          </a:p>
        </p:txBody>
      </p:sp>
      <p:sp>
        <p:nvSpPr>
          <p:cNvPr name="TextBox 3" id="3"/>
          <p:cNvSpPr txBox="true"/>
          <p:nvPr/>
        </p:nvSpPr>
        <p:spPr>
          <a:xfrm rot="0">
            <a:off x="336597" y="3282996"/>
            <a:ext cx="17614806" cy="4648818"/>
          </a:xfrm>
          <a:prstGeom prst="rect">
            <a:avLst/>
          </a:prstGeom>
        </p:spPr>
        <p:txBody>
          <a:bodyPr anchor="t" rtlCol="false" tIns="0" lIns="0" bIns="0" rIns="0">
            <a:spAutoFit/>
          </a:bodyPr>
          <a:lstStyle/>
          <a:p>
            <a:pPr algn="ctr">
              <a:lnSpc>
                <a:spcPts val="7366"/>
              </a:lnSpc>
              <a:spcBef>
                <a:spcPct val="0"/>
              </a:spcBef>
            </a:pPr>
            <a:r>
              <a:rPr lang="en-US" b="true" sz="6138">
                <a:solidFill>
                  <a:srgbClr val="FFFFFF"/>
                </a:solidFill>
                <a:latin typeface="Quicksand Bold"/>
                <a:ea typeface="Quicksand Bold"/>
                <a:cs typeface="Quicksand Bold"/>
                <a:sym typeface="Quicksand Bold"/>
              </a:rPr>
              <a:t>3. 15.3 grams of Lithium is dropped into a solution containing excess copper (II) phosphate. When the reaction is completed, 52.5 grams of copper is formed. What is the percent yield?</a:t>
            </a:r>
          </a:p>
        </p:txBody>
      </p:sp>
    </p:spTree>
  </p:cSld>
  <p:clrMapOvr>
    <a:masterClrMapping/>
  </p:clrMapOvr>
  <p:transition spd="fast">
    <p:circl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128653" y="3018939"/>
            <a:ext cx="16278995" cy="1221289"/>
          </a:xfrm>
          <a:custGeom>
            <a:avLst/>
            <a:gdLst/>
            <a:ahLst/>
            <a:cxnLst/>
            <a:rect r="r" b="b" t="t" l="l"/>
            <a:pathLst>
              <a:path h="1221289" w="16278995">
                <a:moveTo>
                  <a:pt x="0" y="0"/>
                </a:moveTo>
                <a:lnTo>
                  <a:pt x="16278995" y="0"/>
                </a:lnTo>
                <a:lnTo>
                  <a:pt x="16278995" y="1221289"/>
                </a:lnTo>
                <a:lnTo>
                  <a:pt x="0" y="1221289"/>
                </a:lnTo>
                <a:lnTo>
                  <a:pt x="0" y="0"/>
                </a:lnTo>
                <a:close/>
              </a:path>
            </a:pathLst>
          </a:custGeom>
          <a:blipFill>
            <a:blip r:embed="rId2"/>
            <a:stretch>
              <a:fillRect l="0" t="0" r="0" b="-7613"/>
            </a:stretch>
          </a:blipFill>
        </p:spPr>
      </p:sp>
      <p:sp>
        <p:nvSpPr>
          <p:cNvPr name="TextBox 3" id="3"/>
          <p:cNvSpPr txBox="true"/>
          <p:nvPr/>
        </p:nvSpPr>
        <p:spPr>
          <a:xfrm rot="0">
            <a:off x="248301" y="5134154"/>
            <a:ext cx="18039699"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15.3 g Li   x   1 mol Li  x  3 mol Cu  x 64 g Cu  =  69.9 g Cu</a:t>
            </a:r>
          </a:p>
        </p:txBody>
      </p:sp>
      <p:sp>
        <p:nvSpPr>
          <p:cNvPr name="AutoShape 4" id="4"/>
          <p:cNvSpPr/>
          <p:nvPr/>
        </p:nvSpPr>
        <p:spPr>
          <a:xfrm flipV="true">
            <a:off x="4622643" y="5944033"/>
            <a:ext cx="2494378" cy="0"/>
          </a:xfrm>
          <a:prstGeom prst="line">
            <a:avLst/>
          </a:prstGeom>
          <a:ln cap="flat" w="38100">
            <a:solidFill>
              <a:srgbClr val="FFFFFF"/>
            </a:solidFill>
            <a:prstDash val="solid"/>
            <a:headEnd type="none" len="sm" w="sm"/>
            <a:tailEnd type="none" len="sm" w="sm"/>
          </a:ln>
        </p:spPr>
      </p:sp>
      <p:sp>
        <p:nvSpPr>
          <p:cNvPr name="TextBox 5" id="5"/>
          <p:cNvSpPr txBox="true"/>
          <p:nvPr/>
        </p:nvSpPr>
        <p:spPr>
          <a:xfrm rot="0">
            <a:off x="4766172" y="5953558"/>
            <a:ext cx="2250534"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7 g Li</a:t>
            </a:r>
          </a:p>
        </p:txBody>
      </p:sp>
      <p:sp>
        <p:nvSpPr>
          <p:cNvPr name="AutoShape 6" id="6"/>
          <p:cNvSpPr/>
          <p:nvPr/>
        </p:nvSpPr>
        <p:spPr>
          <a:xfrm flipV="true">
            <a:off x="8386373" y="5963083"/>
            <a:ext cx="2494378" cy="0"/>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8262396" y="5991658"/>
            <a:ext cx="2885861"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6 mol Li</a:t>
            </a:r>
          </a:p>
        </p:txBody>
      </p:sp>
      <p:sp>
        <p:nvSpPr>
          <p:cNvPr name="AutoShape 8" id="8"/>
          <p:cNvSpPr/>
          <p:nvPr/>
        </p:nvSpPr>
        <p:spPr>
          <a:xfrm flipV="true">
            <a:off x="11882596" y="6001183"/>
            <a:ext cx="2494378"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11675024" y="6010708"/>
            <a:ext cx="2885861"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1 mol Cu</a:t>
            </a:r>
          </a:p>
        </p:txBody>
      </p:sp>
      <p:sp>
        <p:nvSpPr>
          <p:cNvPr name="AutoShape 10" id="10"/>
          <p:cNvSpPr/>
          <p:nvPr/>
        </p:nvSpPr>
        <p:spPr>
          <a:xfrm flipV="true">
            <a:off x="1847575" y="5319955"/>
            <a:ext cx="1541388" cy="428752"/>
          </a:xfrm>
          <a:prstGeom prst="line">
            <a:avLst/>
          </a:prstGeom>
          <a:ln cap="flat" w="38100">
            <a:solidFill>
              <a:srgbClr val="FFFFFF"/>
            </a:solidFill>
            <a:prstDash val="solid"/>
            <a:headEnd type="none" len="sm" w="sm"/>
            <a:tailEnd type="none" len="sm" w="sm"/>
          </a:ln>
        </p:spPr>
      </p:sp>
      <p:sp>
        <p:nvSpPr>
          <p:cNvPr name="AutoShape 11" id="11"/>
          <p:cNvSpPr/>
          <p:nvPr/>
        </p:nvSpPr>
        <p:spPr>
          <a:xfrm flipV="true">
            <a:off x="5470213" y="5301602"/>
            <a:ext cx="1541388" cy="428752"/>
          </a:xfrm>
          <a:prstGeom prst="line">
            <a:avLst/>
          </a:prstGeom>
          <a:ln cap="flat" w="38100">
            <a:solidFill>
              <a:srgbClr val="FFFFFF"/>
            </a:solidFill>
            <a:prstDash val="solid"/>
            <a:headEnd type="none" len="sm" w="sm"/>
            <a:tailEnd type="none" len="sm" w="sm"/>
          </a:ln>
        </p:spPr>
      </p:sp>
      <p:sp>
        <p:nvSpPr>
          <p:cNvPr name="AutoShape 12" id="12"/>
          <p:cNvSpPr/>
          <p:nvPr/>
        </p:nvSpPr>
        <p:spPr>
          <a:xfrm flipV="true">
            <a:off x="5475318" y="6139360"/>
            <a:ext cx="1541388" cy="428752"/>
          </a:xfrm>
          <a:prstGeom prst="line">
            <a:avLst/>
          </a:prstGeom>
          <a:ln cap="flat" w="38100">
            <a:solidFill>
              <a:srgbClr val="FFFFFF"/>
            </a:solidFill>
            <a:prstDash val="solid"/>
            <a:headEnd type="none" len="sm" w="sm"/>
            <a:tailEnd type="none" len="sm" w="sm"/>
          </a:ln>
        </p:spPr>
      </p:sp>
      <p:sp>
        <p:nvSpPr>
          <p:cNvPr name="AutoShape 13" id="13"/>
          <p:cNvSpPr/>
          <p:nvPr/>
        </p:nvSpPr>
        <p:spPr>
          <a:xfrm flipV="true">
            <a:off x="9088736" y="5283248"/>
            <a:ext cx="1541388" cy="428752"/>
          </a:xfrm>
          <a:prstGeom prst="line">
            <a:avLst/>
          </a:prstGeom>
          <a:ln cap="flat" w="38100">
            <a:solidFill>
              <a:srgbClr val="FFFFFF"/>
            </a:solidFill>
            <a:prstDash val="solid"/>
            <a:headEnd type="none" len="sm" w="sm"/>
            <a:tailEnd type="none" len="sm" w="sm"/>
          </a:ln>
        </p:spPr>
      </p:sp>
      <p:sp>
        <p:nvSpPr>
          <p:cNvPr name="AutoShape 14" id="14"/>
          <p:cNvSpPr/>
          <p:nvPr/>
        </p:nvSpPr>
        <p:spPr>
          <a:xfrm flipV="true">
            <a:off x="9273255" y="6196510"/>
            <a:ext cx="1541388" cy="428752"/>
          </a:xfrm>
          <a:prstGeom prst="line">
            <a:avLst/>
          </a:prstGeom>
          <a:ln cap="flat" w="38100">
            <a:solidFill>
              <a:srgbClr val="FFFFFF"/>
            </a:solidFill>
            <a:prstDash val="solid"/>
            <a:headEnd type="none" len="sm" w="sm"/>
            <a:tailEnd type="none" len="sm" w="sm"/>
          </a:ln>
        </p:spPr>
      </p:sp>
      <p:sp>
        <p:nvSpPr>
          <p:cNvPr name="AutoShape 15" id="15"/>
          <p:cNvSpPr/>
          <p:nvPr/>
        </p:nvSpPr>
        <p:spPr>
          <a:xfrm flipV="true">
            <a:off x="12830481" y="6157713"/>
            <a:ext cx="1541388" cy="428752"/>
          </a:xfrm>
          <a:prstGeom prst="line">
            <a:avLst/>
          </a:prstGeom>
          <a:ln cap="flat" w="38100">
            <a:solidFill>
              <a:srgbClr val="FFFFFF"/>
            </a:solidFill>
            <a:prstDash val="solid"/>
            <a:headEnd type="none" len="sm" w="sm"/>
            <a:tailEnd type="none" len="sm" w="sm"/>
          </a:ln>
        </p:spPr>
      </p:sp>
      <p:sp>
        <p:nvSpPr>
          <p:cNvPr name="Freeform 16" id="16"/>
          <p:cNvSpPr/>
          <p:nvPr/>
        </p:nvSpPr>
        <p:spPr>
          <a:xfrm flipH="false" flipV="false" rot="0">
            <a:off x="15084760" y="4851805"/>
            <a:ext cx="3167158" cy="1540031"/>
          </a:xfrm>
          <a:custGeom>
            <a:avLst/>
            <a:gdLst/>
            <a:ahLst/>
            <a:cxnLst/>
            <a:rect r="r" b="b" t="t" l="l"/>
            <a:pathLst>
              <a:path h="1540031" w="3167158">
                <a:moveTo>
                  <a:pt x="0" y="0"/>
                </a:moveTo>
                <a:lnTo>
                  <a:pt x="3167158" y="0"/>
                </a:lnTo>
                <a:lnTo>
                  <a:pt x="3167158" y="1540031"/>
                </a:lnTo>
                <a:lnTo>
                  <a:pt x="0" y="15400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248301" y="496219"/>
            <a:ext cx="18039699" cy="2118690"/>
          </a:xfrm>
          <a:prstGeom prst="rect">
            <a:avLst/>
          </a:prstGeom>
        </p:spPr>
        <p:txBody>
          <a:bodyPr anchor="t" rtlCol="false" tIns="0" lIns="0" bIns="0" rIns="0">
            <a:spAutoFit/>
          </a:bodyPr>
          <a:lstStyle/>
          <a:p>
            <a:pPr algn="ctr">
              <a:lnSpc>
                <a:spcPts val="5595"/>
              </a:lnSpc>
              <a:spcBef>
                <a:spcPct val="0"/>
              </a:spcBef>
            </a:pPr>
            <a:r>
              <a:rPr lang="en-US" b="true" sz="4662">
                <a:solidFill>
                  <a:srgbClr val="FFFFFF"/>
                </a:solidFill>
                <a:latin typeface="Quicksand Bold"/>
                <a:ea typeface="Quicksand Bold"/>
                <a:cs typeface="Quicksand Bold"/>
                <a:sym typeface="Quicksand Bold"/>
              </a:rPr>
              <a:t>3. 15.3 grams of Lithium is dropped into a solution containing excess copper (II) phosphate. When the reaction is completed, 52.5 grams of copper is formed. What is the percent yield?</a:t>
            </a:r>
          </a:p>
        </p:txBody>
      </p:sp>
      <p:sp>
        <p:nvSpPr>
          <p:cNvPr name="TextBox 18" id="18"/>
          <p:cNvSpPr txBox="true"/>
          <p:nvPr/>
        </p:nvSpPr>
        <p:spPr>
          <a:xfrm rot="0">
            <a:off x="124150" y="7715938"/>
            <a:ext cx="18039699"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 yield = 52.5 g    x    100% = 75.1%</a:t>
            </a:r>
          </a:p>
        </p:txBody>
      </p:sp>
      <p:sp>
        <p:nvSpPr>
          <p:cNvPr name="AutoShape 19" id="19"/>
          <p:cNvSpPr/>
          <p:nvPr/>
        </p:nvSpPr>
        <p:spPr>
          <a:xfrm flipV="true">
            <a:off x="6335425" y="8602018"/>
            <a:ext cx="2494378" cy="0"/>
          </a:xfrm>
          <a:prstGeom prst="line">
            <a:avLst/>
          </a:prstGeom>
          <a:ln cap="flat" w="38100">
            <a:solidFill>
              <a:srgbClr val="FFFFFF"/>
            </a:solidFill>
            <a:prstDash val="solid"/>
            <a:headEnd type="none" len="sm" w="sm"/>
            <a:tailEnd type="none" len="sm" w="sm"/>
          </a:ln>
        </p:spPr>
      </p:sp>
      <p:sp>
        <p:nvSpPr>
          <p:cNvPr name="TextBox 20" id="20"/>
          <p:cNvSpPr txBox="true"/>
          <p:nvPr/>
        </p:nvSpPr>
        <p:spPr>
          <a:xfrm rot="0">
            <a:off x="4474064" y="8687743"/>
            <a:ext cx="6217101" cy="809880"/>
          </a:xfrm>
          <a:prstGeom prst="rect">
            <a:avLst/>
          </a:prstGeom>
        </p:spPr>
        <p:txBody>
          <a:bodyPr anchor="t" rtlCol="false" tIns="0" lIns="0" bIns="0" rIns="0">
            <a:spAutoFit/>
          </a:bodyPr>
          <a:lstStyle/>
          <a:p>
            <a:pPr algn="ctr">
              <a:lnSpc>
                <a:spcPts val="6491"/>
              </a:lnSpc>
              <a:spcBef>
                <a:spcPct val="0"/>
              </a:spcBef>
            </a:pPr>
            <a:r>
              <a:rPr lang="en-US" b="true" sz="5409">
                <a:solidFill>
                  <a:srgbClr val="FFFFFF"/>
                </a:solidFill>
                <a:latin typeface="Quicksand Bold"/>
                <a:ea typeface="Quicksand Bold"/>
                <a:cs typeface="Quicksand Bold"/>
                <a:sym typeface="Quicksand Bold"/>
              </a:rPr>
              <a:t>69.9 g</a:t>
            </a:r>
          </a:p>
        </p:txBody>
      </p:sp>
      <p:sp>
        <p:nvSpPr>
          <p:cNvPr name="Freeform 21" id="21"/>
          <p:cNvSpPr/>
          <p:nvPr/>
        </p:nvSpPr>
        <p:spPr>
          <a:xfrm flipH="false" flipV="false" rot="0">
            <a:off x="12830481" y="7585989"/>
            <a:ext cx="2246228" cy="1092228"/>
          </a:xfrm>
          <a:custGeom>
            <a:avLst/>
            <a:gdLst/>
            <a:ahLst/>
            <a:cxnLst/>
            <a:rect r="r" b="b" t="t" l="l"/>
            <a:pathLst>
              <a:path h="1092228" w="2246228">
                <a:moveTo>
                  <a:pt x="0" y="0"/>
                </a:moveTo>
                <a:lnTo>
                  <a:pt x="2246228" y="0"/>
                </a:lnTo>
                <a:lnTo>
                  <a:pt x="2246228" y="1092229"/>
                </a:lnTo>
                <a:lnTo>
                  <a:pt x="0" y="10922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circle/>
  </p:transition>
</p:sld>
</file>

<file path=ppt/slides/slide19.xml><?xml version="1.0" encoding="utf-8"?>
<p:sld xmlns:p="http://schemas.openxmlformats.org/presentationml/2006/main" xmlns:a="http://schemas.openxmlformats.org/drawingml/2006/main">
  <p:cSld>
    <p:bg>
      <p:bgPr>
        <a:solidFill>
          <a:srgbClr val="153B6E"/>
        </a:solidFill>
      </p:bgPr>
    </p:bg>
    <p:spTree>
      <p:nvGrpSpPr>
        <p:cNvPr id="1" name=""/>
        <p:cNvGrpSpPr/>
        <p:nvPr/>
      </p:nvGrpSpPr>
      <p:grpSpPr>
        <a:xfrm>
          <a:off x="0" y="0"/>
          <a:ext cx="0" cy="0"/>
          <a:chOff x="0" y="0"/>
          <a:chExt cx="0" cy="0"/>
        </a:xfrm>
      </p:grpSpPr>
      <p:sp>
        <p:nvSpPr>
          <p:cNvPr name="TextBox 2" id="2"/>
          <p:cNvSpPr txBox="true"/>
          <p:nvPr/>
        </p:nvSpPr>
        <p:spPr>
          <a:xfrm rot="0">
            <a:off x="6050635" y="536222"/>
            <a:ext cx="6186730" cy="984957"/>
          </a:xfrm>
          <a:prstGeom prst="rect">
            <a:avLst/>
          </a:prstGeom>
        </p:spPr>
        <p:txBody>
          <a:bodyPr anchor="t" rtlCol="false" tIns="0" lIns="0" bIns="0" rIns="0">
            <a:spAutoFit/>
          </a:bodyPr>
          <a:lstStyle/>
          <a:p>
            <a:pPr algn="ctr">
              <a:lnSpc>
                <a:spcPts val="7803"/>
              </a:lnSpc>
              <a:spcBef>
                <a:spcPct val="0"/>
              </a:spcBef>
            </a:pPr>
            <a:r>
              <a:rPr lang="en-US" b="true" sz="6502">
                <a:solidFill>
                  <a:srgbClr val="FFFFFF"/>
                </a:solidFill>
                <a:latin typeface="Quicksand Bold"/>
                <a:ea typeface="Quicksand Bold"/>
                <a:cs typeface="Quicksand Bold"/>
                <a:sym typeface="Quicksand Bold"/>
              </a:rPr>
              <a:t>SEATWORK</a:t>
            </a:r>
          </a:p>
        </p:txBody>
      </p:sp>
    </p:spTree>
  </p:cSld>
  <p:clrMapOvr>
    <a:masterClrMapping/>
  </p:clrMapOvr>
  <p:transition spd="fast">
    <p:circl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53B6E"/>
        </a:solidFill>
      </p:bgPr>
    </p:bg>
    <p:spTree>
      <p:nvGrpSpPr>
        <p:cNvPr id="1" name=""/>
        <p:cNvGrpSpPr/>
        <p:nvPr/>
      </p:nvGrpSpPr>
      <p:grpSpPr>
        <a:xfrm>
          <a:off x="0" y="0"/>
          <a:ext cx="0" cy="0"/>
          <a:chOff x="0" y="0"/>
          <a:chExt cx="0" cy="0"/>
        </a:xfrm>
      </p:grpSpPr>
      <p:sp>
        <p:nvSpPr>
          <p:cNvPr name="Freeform 2" id="2"/>
          <p:cNvSpPr/>
          <p:nvPr/>
        </p:nvSpPr>
        <p:spPr>
          <a:xfrm flipH="false" flipV="false" rot="0">
            <a:off x="-1903114" y="-551760"/>
            <a:ext cx="11376282" cy="11390520"/>
          </a:xfrm>
          <a:custGeom>
            <a:avLst/>
            <a:gdLst/>
            <a:ahLst/>
            <a:cxnLst/>
            <a:rect r="r" b="b" t="t" l="l"/>
            <a:pathLst>
              <a:path h="11390520" w="11376282">
                <a:moveTo>
                  <a:pt x="0" y="0"/>
                </a:moveTo>
                <a:lnTo>
                  <a:pt x="11376283" y="0"/>
                </a:lnTo>
                <a:lnTo>
                  <a:pt x="11376283" y="11390520"/>
                </a:lnTo>
                <a:lnTo>
                  <a:pt x="0" y="1139052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473169" y="-551760"/>
            <a:ext cx="11376282" cy="11390520"/>
          </a:xfrm>
          <a:custGeom>
            <a:avLst/>
            <a:gdLst/>
            <a:ahLst/>
            <a:cxnLst/>
            <a:rect r="r" b="b" t="t" l="l"/>
            <a:pathLst>
              <a:path h="11390520" w="11376282">
                <a:moveTo>
                  <a:pt x="11376282" y="0"/>
                </a:moveTo>
                <a:lnTo>
                  <a:pt x="0" y="0"/>
                </a:lnTo>
                <a:lnTo>
                  <a:pt x="0" y="11390520"/>
                </a:lnTo>
                <a:lnTo>
                  <a:pt x="11376282" y="11390520"/>
                </a:lnTo>
                <a:lnTo>
                  <a:pt x="11376282"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00584" y="5759984"/>
            <a:ext cx="4979815" cy="5030116"/>
          </a:xfrm>
          <a:custGeom>
            <a:avLst/>
            <a:gdLst/>
            <a:ahLst/>
            <a:cxnLst/>
            <a:rect r="r" b="b" t="t" l="l"/>
            <a:pathLst>
              <a:path h="5030116" w="4979815">
                <a:moveTo>
                  <a:pt x="0" y="0"/>
                </a:moveTo>
                <a:lnTo>
                  <a:pt x="4979816" y="0"/>
                </a:lnTo>
                <a:lnTo>
                  <a:pt x="4979816" y="5030116"/>
                </a:lnTo>
                <a:lnTo>
                  <a:pt x="0" y="5030116"/>
                </a:lnTo>
                <a:lnTo>
                  <a:pt x="0" y="0"/>
                </a:lnTo>
                <a:close/>
              </a:path>
            </a:pathLst>
          </a:custGeom>
          <a:blipFill>
            <a:blip r:embed="rId4"/>
            <a:stretch>
              <a:fillRect l="0" t="0" r="0" b="0"/>
            </a:stretch>
          </a:blipFill>
        </p:spPr>
      </p:sp>
      <p:sp>
        <p:nvSpPr>
          <p:cNvPr name="Freeform 5" id="5"/>
          <p:cNvSpPr/>
          <p:nvPr/>
        </p:nvSpPr>
        <p:spPr>
          <a:xfrm flipH="true" flipV="false" rot="904299">
            <a:off x="13982075" y="5667511"/>
            <a:ext cx="5084685" cy="5215061"/>
          </a:xfrm>
          <a:custGeom>
            <a:avLst/>
            <a:gdLst/>
            <a:ahLst/>
            <a:cxnLst/>
            <a:rect r="r" b="b" t="t" l="l"/>
            <a:pathLst>
              <a:path h="5215061" w="5084685">
                <a:moveTo>
                  <a:pt x="5084685" y="0"/>
                </a:moveTo>
                <a:lnTo>
                  <a:pt x="0" y="0"/>
                </a:lnTo>
                <a:lnTo>
                  <a:pt x="0" y="5215062"/>
                </a:lnTo>
                <a:lnTo>
                  <a:pt x="5084685" y="5215062"/>
                </a:lnTo>
                <a:lnTo>
                  <a:pt x="5084685" y="0"/>
                </a:lnTo>
                <a:close/>
              </a:path>
            </a:pathLst>
          </a:custGeom>
          <a:blipFill>
            <a:blip r:embed="rId5"/>
            <a:stretch>
              <a:fillRect l="0" t="0" r="0" b="0"/>
            </a:stretch>
          </a:blipFill>
        </p:spPr>
      </p:sp>
      <p:sp>
        <p:nvSpPr>
          <p:cNvPr name="Freeform 6" id="6"/>
          <p:cNvSpPr/>
          <p:nvPr/>
        </p:nvSpPr>
        <p:spPr>
          <a:xfrm flipH="true" flipV="false" rot="-1372950">
            <a:off x="-873236" y="5904601"/>
            <a:ext cx="4925426" cy="4994095"/>
          </a:xfrm>
          <a:custGeom>
            <a:avLst/>
            <a:gdLst/>
            <a:ahLst/>
            <a:cxnLst/>
            <a:rect r="r" b="b" t="t" l="l"/>
            <a:pathLst>
              <a:path h="4994095" w="4925426">
                <a:moveTo>
                  <a:pt x="4925426" y="0"/>
                </a:moveTo>
                <a:lnTo>
                  <a:pt x="0" y="0"/>
                </a:lnTo>
                <a:lnTo>
                  <a:pt x="0" y="4994094"/>
                </a:lnTo>
                <a:lnTo>
                  <a:pt x="4925426" y="4994094"/>
                </a:lnTo>
                <a:lnTo>
                  <a:pt x="4925426" y="0"/>
                </a:lnTo>
                <a:close/>
              </a:path>
            </a:pathLst>
          </a:custGeom>
          <a:blipFill>
            <a:blip r:embed="rId6"/>
            <a:stretch>
              <a:fillRect l="0" t="0" r="0" b="0"/>
            </a:stretch>
          </a:blipFill>
        </p:spPr>
      </p:sp>
      <p:sp>
        <p:nvSpPr>
          <p:cNvPr name="Freeform 7" id="7"/>
          <p:cNvSpPr/>
          <p:nvPr/>
        </p:nvSpPr>
        <p:spPr>
          <a:xfrm flipH="false" flipV="false" rot="0">
            <a:off x="2346319" y="5759984"/>
            <a:ext cx="5914598" cy="5899812"/>
          </a:xfrm>
          <a:custGeom>
            <a:avLst/>
            <a:gdLst/>
            <a:ahLst/>
            <a:cxnLst/>
            <a:rect r="r" b="b" t="t" l="l"/>
            <a:pathLst>
              <a:path h="5899812" w="5914598">
                <a:moveTo>
                  <a:pt x="0" y="0"/>
                </a:moveTo>
                <a:lnTo>
                  <a:pt x="5914598" y="0"/>
                </a:lnTo>
                <a:lnTo>
                  <a:pt x="5914598" y="5899812"/>
                </a:lnTo>
                <a:lnTo>
                  <a:pt x="0" y="5899812"/>
                </a:lnTo>
                <a:lnTo>
                  <a:pt x="0" y="0"/>
                </a:lnTo>
                <a:close/>
              </a:path>
            </a:pathLst>
          </a:custGeom>
          <a:blipFill>
            <a:blip r:embed="rId7"/>
            <a:stretch>
              <a:fillRect l="0" t="0" r="0" b="0"/>
            </a:stretch>
          </a:blipFill>
        </p:spPr>
      </p:sp>
      <p:sp>
        <p:nvSpPr>
          <p:cNvPr name="Freeform 8" id="8"/>
          <p:cNvSpPr/>
          <p:nvPr/>
        </p:nvSpPr>
        <p:spPr>
          <a:xfrm flipH="false" flipV="false" rot="0">
            <a:off x="6540165" y="5759984"/>
            <a:ext cx="5136835" cy="5215061"/>
          </a:xfrm>
          <a:custGeom>
            <a:avLst/>
            <a:gdLst/>
            <a:ahLst/>
            <a:cxnLst/>
            <a:rect r="r" b="b" t="t" l="l"/>
            <a:pathLst>
              <a:path h="5215061" w="5136835">
                <a:moveTo>
                  <a:pt x="0" y="0"/>
                </a:moveTo>
                <a:lnTo>
                  <a:pt x="5136835" y="0"/>
                </a:lnTo>
                <a:lnTo>
                  <a:pt x="5136835" y="5215061"/>
                </a:lnTo>
                <a:lnTo>
                  <a:pt x="0" y="5215061"/>
                </a:lnTo>
                <a:lnTo>
                  <a:pt x="0" y="0"/>
                </a:lnTo>
                <a:close/>
              </a:path>
            </a:pathLst>
          </a:custGeom>
          <a:blipFill>
            <a:blip r:embed="rId8"/>
            <a:stretch>
              <a:fillRect l="0" t="0" r="0" b="0"/>
            </a:stretch>
          </a:blipFill>
        </p:spPr>
      </p:sp>
      <p:sp>
        <p:nvSpPr>
          <p:cNvPr name="TextBox 9" id="9"/>
          <p:cNvSpPr txBox="true"/>
          <p:nvPr/>
        </p:nvSpPr>
        <p:spPr>
          <a:xfrm rot="0">
            <a:off x="1589477" y="2128630"/>
            <a:ext cx="14833692" cy="1441174"/>
          </a:xfrm>
          <a:prstGeom prst="rect">
            <a:avLst/>
          </a:prstGeom>
        </p:spPr>
        <p:txBody>
          <a:bodyPr anchor="t" rtlCol="false" tIns="0" lIns="0" bIns="0" rIns="0">
            <a:spAutoFit/>
          </a:bodyPr>
          <a:lstStyle/>
          <a:p>
            <a:pPr algn="ctr">
              <a:lnSpc>
                <a:spcPts val="11400"/>
              </a:lnSpc>
            </a:pPr>
            <a:r>
              <a:rPr lang="en-US" sz="9500" spc="712">
                <a:solidFill>
                  <a:srgbClr val="046A7C"/>
                </a:solidFill>
                <a:latin typeface="Fredoka"/>
                <a:ea typeface="Fredoka"/>
                <a:cs typeface="Fredoka"/>
                <a:sym typeface="Fredoka"/>
              </a:rPr>
              <a:t>THANK YOU</a:t>
            </a:r>
          </a:p>
        </p:txBody>
      </p:sp>
      <p:sp>
        <p:nvSpPr>
          <p:cNvPr name="TextBox 10" id="10"/>
          <p:cNvSpPr txBox="true"/>
          <p:nvPr/>
        </p:nvSpPr>
        <p:spPr>
          <a:xfrm rot="0">
            <a:off x="1589477" y="3636065"/>
            <a:ext cx="14833692" cy="1441174"/>
          </a:xfrm>
          <a:prstGeom prst="rect">
            <a:avLst/>
          </a:prstGeom>
        </p:spPr>
        <p:txBody>
          <a:bodyPr anchor="t" rtlCol="false" tIns="0" lIns="0" bIns="0" rIns="0">
            <a:spAutoFit/>
          </a:bodyPr>
          <a:lstStyle/>
          <a:p>
            <a:pPr algn="ctr">
              <a:lnSpc>
                <a:spcPts val="11400"/>
              </a:lnSpc>
            </a:pPr>
            <a:r>
              <a:rPr lang="en-US" sz="9500" spc="712">
                <a:solidFill>
                  <a:srgbClr val="046A7C"/>
                </a:solidFill>
                <a:latin typeface="Fredoka"/>
                <a:ea typeface="Fredoka"/>
                <a:cs typeface="Fredoka"/>
                <a:sym typeface="Fredoka"/>
              </a:rPr>
              <a:t>FOR LISTENING!</a:t>
            </a:r>
          </a:p>
        </p:txBody>
      </p:sp>
      <p:sp>
        <p:nvSpPr>
          <p:cNvPr name="TextBox 11" id="11"/>
          <p:cNvSpPr txBox="true"/>
          <p:nvPr/>
        </p:nvSpPr>
        <p:spPr>
          <a:xfrm rot="0">
            <a:off x="1589477" y="1366630"/>
            <a:ext cx="14833692" cy="679174"/>
          </a:xfrm>
          <a:prstGeom prst="rect">
            <a:avLst/>
          </a:prstGeom>
        </p:spPr>
        <p:txBody>
          <a:bodyPr anchor="t" rtlCol="false" tIns="0" lIns="0" bIns="0" rIns="0">
            <a:spAutoFit/>
          </a:bodyPr>
          <a:lstStyle/>
          <a:p>
            <a:pPr algn="ctr">
              <a:lnSpc>
                <a:spcPts val="5400"/>
              </a:lnSpc>
              <a:spcBef>
                <a:spcPct val="0"/>
              </a:spcBef>
            </a:pPr>
            <a:r>
              <a:rPr lang="en-US" b="true" sz="4500">
                <a:solidFill>
                  <a:srgbClr val="FFFFFF"/>
                </a:solidFill>
                <a:latin typeface="Quicksand Bold"/>
                <a:ea typeface="Quicksand Bold"/>
                <a:cs typeface="Quicksand Bold"/>
                <a:sym typeface="Quicksand Bold"/>
              </a:rPr>
              <a:t>I hope you learn something new today!</a:t>
            </a:r>
          </a:p>
        </p:txBody>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DAG0l9wiQOk</dc:identifier>
  <dcterms:modified xsi:type="dcterms:W3CDTF">2011-08-01T06:04:30Z</dcterms:modified>
  <cp:revision>1</cp:revision>
  <dc:title>PERCENT AND THEORETICAL YIELD</dc:title>
</cp:coreProperties>
</file>